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ckground" id="{0df3ba74-3fa1-1c79-faab-aeed29614f0e}">
          <p14:sldIdLst>
            <p14:sldId id="256"/>
            <p14:sldId id="257"/>
            <p14:sldId id="258"/>
            <p14:sldId id="259"/>
            <p14:sldId id="260"/>
          </p14:sldIdLst>
        </p14:section>
        <p14:section name="Strategy" id="{0d5b7f29-65fc-0d2c-c7e6-0c47634559e7}">
          <p14:sldIdLst>
            <p14:sldId id="261"/>
            <p14:sldId id="262"/>
            <p14:sldId id="263"/>
            <p14:sldId id="264"/>
          </p14:sldIdLst>
        </p14:section>
        <p14:section name="OKRs" id="{682edc3e-b774-2cff-8625-dfd993dfff65}">
          <p14:sldIdLst>
            <p14:sldId id="265"/>
            <p14:sldId id="266"/>
            <p14:sldId id="267"/>
          </p14:sldIdLst>
        </p14:section>
        <p14:section name="Risks and asks" id="{e9c5000f-0d18-2334-626a-8cb936cd5fd2}">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Digital Services revenue (M)</c:v>
                </c:pt>
              </c:strCache>
            </c:strRef>
          </c:tx>
          <c:spPr>
            <a:solidFill>
              <a:srgbClr val="B9D9C3"/>
            </a:solidFill>
            <a:effectLst/>
          </c:spPr>
          <c:invertIfNegative val="0"/>
          <c:dLbls>
            <c:numFmt formatCode="0.00&quot;M&quot;" sourceLinked="0"/>
            <c:txPr>
              <a:bodyPr/>
              <a:lstStyle/>
              <a:p>
                <a:pPr>
                  <a:defRPr b="0" i="0" strike="noStrike" sz="1200" u="none">
                    <a:solidFill>
                      <a:srgbClr val="14231B"/>
                    </a:solidFill>
                    <a:latin typeface="+mn-lt"/>
                  </a:defRPr>
                </a:pPr>
              </a:p>
            </c:txPr>
            <c:showLegendKey val="0"/>
            <c:showVal val="1"/>
            <c:showCatName val="0"/>
            <c:showSerName val="0"/>
            <c:showPercent val="0"/>
            <c:showBubbleSize val="0"/>
            <c:showLeaderLines val="0"/>
          </c:dLbls>
          <c:dPt>
            <c:idx val="0"/>
            <c:invertIfNegative val="0"/>
            <c:bubble3D val="0"/>
            <c:spPr>
              <a:solidFill>
                <a:srgbClr val="B9D9C3"/>
              </a:solidFill>
              <a:effectLst/>
            </c:spPr>
          </c:dPt>
          <c:dPt>
            <c:idx val="1"/>
            <c:invertIfNegative val="0"/>
            <c:bubble3D val="0"/>
            <c:spPr>
              <a:solidFill>
                <a:srgbClr val="8CC3A0"/>
              </a:solidFill>
              <a:effectLst/>
            </c:spPr>
          </c:dPt>
          <c:dPt>
            <c:idx val="2"/>
            <c:invertIfNegative val="0"/>
            <c:bubble3D val="0"/>
            <c:spPr>
              <a:solidFill>
                <a:srgbClr val="5BA97A"/>
              </a:solidFill>
              <a:effectLst/>
            </c:spPr>
          </c:dPt>
          <c:dPt>
            <c:idx val="3"/>
            <c:invertIfNegative val="0"/>
            <c:bubble3D val="0"/>
            <c:spPr>
              <a:solidFill>
                <a:srgbClr val="1F7A45"/>
              </a:solidFill>
              <a:effectLst/>
            </c:spPr>
          </c:dPt>
          <c:cat>
            <c:multiLvlStrRef>
              <c:f>Sheet1!$A$2:$A$5</c:f>
              <c:multiLvlStrCache>
                <c:ptCount val="4"/>
                <c:lvl>
                  <c:pt idx="0">
                    <c:v>Baseline</c:v>
                  </c:pt>
                  <c:pt idx="1">
                    <c:v>Year 1</c:v>
                  </c:pt>
                  <c:pt idx="2">
                    <c:v>Year 2</c:v>
                  </c:pt>
                  <c:pt idx="3">
                    <c:v>Year 3</c:v>
                  </c:pt>
                </c:lvl>
              </c:multiLvlStrCache>
            </c:multiLvlStrRef>
          </c:cat>
          <c:val>
            <c:numRef>
              <c:f>Sheet1!$B$2:$B$5</c:f>
              <c:numCache>
                <c:formatCode>General</c:formatCode>
                <c:ptCount val="4"/>
                <c:pt idx="0">
                  <c:v>10</c:v>
                </c:pt>
                <c:pt idx="1">
                  <c:v>11.1</c:v>
                </c:pt>
                <c:pt idx="2">
                  <c:v>12.32</c:v>
                </c:pt>
                <c:pt idx="3">
                  <c:v>13.68</c:v>
                </c:pt>
              </c:numCache>
            </c:numRef>
          </c:val>
        </c:ser>
        <c:dLbls>
          <c:numFmt formatCode="0.00&quot;M&quot;" sourceLinked="0"/>
          <c:txPr>
            <a:bodyPr/>
            <a:lstStyle/>
            <a:p>
              <a:pPr>
                <a:defRPr b="0" i="0" strike="noStrike" sz="1200" u="none">
                  <a:solidFill>
                    <a:srgbClr val="14231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6514A"/>
                </a:solidFill>
                <a:latin typeface="+mn-lt"/>
              </a:defRPr>
            </a:pPr>
            <a:endParaRPr lang="en-US"/>
          </a:p>
        </c:txPr>
        <c:crossAx val="2094734552"/>
        <c:crosses val="autoZero"/>
        <c:auto val="1"/>
        <c:lblAlgn val="ctr"/>
        <c:noMultiLvlLbl val="1"/>
      </c:catAx>
      <c:valAx>
        <c:axId val="2094734552"/>
        <c:scaling>
          <c:orientation val="minMax"/>
          <c:max val="1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today: agree on where the services business grows over the next three years and what we prioritize. I'll cover the background briefly, then the strategy, the OKRs, what we're still testing, and the decisions I need from this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forces are changing our market. Routine maintenance is turning into a price comparison against independent providers. Customers are asking for outcomes: energy cost, uptime, asset life, sustainability. And competitors are investing heavily in predictive, remote and AI-driven services. Our growth used to follow hardware installs; we can't rely on that anymore.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EcoCare, EcoFit and Field Services carry the business. Looking forward, Digital Services is ranked first for growth potential but only fourth today. That gap is the single biggest lever in the portfolio, and it's where the strategy focuses.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Leadership has debated three paths. A protects what we have. B scales digital. C goes after data centers, the new energy landscape and AI. We can only fund one as the priority. My recommendation is B, used to make the core harder to commoditize, with data centers pursued through digital rather than as a separate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guardrails. Whatever we choose can't put core maintenance revenue at risk, can't rely on big hiring, has to show customer value quickly and business impact within three years, and has to hold up against price-led independents while honoring existing contracts.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wording: Be our customers' trusted, go-to service partner for their three biggest challenges: maximizing uptime, preventing unplanned downtime, and improving energy efficiency. We defend the core, EcoCare and EcoFit across our installed base, and building on it, become known as one of the best digital service providers, combining maintenance, advisory, and AI-driven predictions to optimize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focus where downtime is most expensive, and on our own installed base. Our edge is the combination competitors can't easily copy: original-equipment knowledge, the largest installed base, and live data from connected assets. We sell connected EcoCare contracts where the digital layer is included, not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Capabilities we build ourselves are the ones that differentiate: onboarding assets at scale, analytics on our own equipment, remote service, and selling outcome contracts. Platforms and OT cybersecurity we partner for. And we reskill the field so growth doesn't depend on hiring. The management system makes it stick: what we review monthly, how sales is paid, and how field performance is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uncomfortable choice. Routine maintenance is valuable revenue, but a price war with independents would drain the margin and field capacity we need for digital. We'll offer those customers a connected contract; if they only want the cheapest visit, we let them go. Data centers and AI are part of the plan, but through digital and partnerships, not a new headcount-heavy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objective, three key results. KR1: Digital Services grows from 10M to 13.68M by Year 3, at 11% a year, led by digital twin and augmented reality, and becomes one of the top three revenue lines in Services. KR2: at least 5M of incremental revenue from data center and AI segments through partnerships or greenfield projects. KR3: the core keeps growing, 3% organic plus 5% leveraged from digital and new markets, and service contract satisfaction rises 10 points above today's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math behind KR1: 10M times 1.11 is 11.10M in Year 1, 12.32M in Year 2 and 13.68M in Year 3. That's 3.68M of new digital revenue, about 37% growth over the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Bracketed figures are placeholders we still need to set with each team. The point of this slide is ownership: each team has one result that rolls up to the three KRs.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a devil's-advocate review of this plan. These are the four questions it raised that I can't fully answer yet. A read-through from a regional point of view also scored the strategy about 5.5 out of 10 for clarity, mainly because the KRs aren't split by region yet and the resource shift isn't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asks. First, agreement on the bet. Second, a funding and headcount envelope so the plan is committed, not a wish list. Third, regional owners, which is what makes the KRs cascade. Fourth, confirmed baselines so we're measuring against the right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6F2"/>
        </a:solidFill>
      </p:bgPr>
    </p:bg>
    <p:spTree>
      <p:nvGrpSpPr>
        <p:cNvPr id="1" name=""/>
        <p:cNvGrpSpPr/>
        <p:nvPr/>
      </p:nvGrpSpPr>
      <p:grpSpPr>
        <a:xfrm>
          <a:off x="0" y="0"/>
          <a:ext cx="0" cy="0"/>
          <a:chOff x="0" y="0"/>
          <a:chExt cx="0" cy="0"/>
        </a:xfrm>
      </p:grpSpPr>
      <p:sp>
        <p:nvSpPr>
          <p:cNvPr id="2" name="Text 0"/>
          <p:cNvSpPr/>
          <p:nvPr/>
        </p:nvSpPr>
        <p:spPr>
          <a:xfrm>
            <a:off x="548640" y="475488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Schneider Electric Services · Growth strategy</a:t>
            </a:r>
            <a:endParaRPr lang="en-US" sz="10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56E"/>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31B"/>
        </a:solidFill>
      </p:bgPr>
    </p:bg>
    <p:spTree>
      <p:nvGrpSpPr>
        <p:cNvPr id="1" name=""/>
        <p:cNvGrpSpPr/>
        <p:nvPr/>
      </p:nvGrpSpPr>
      <p:grpSpPr>
        <a:xfrm>
          <a:off x="0" y="0"/>
          <a:ext cx="0" cy="0"/>
          <a:chOff x="0" y="0"/>
          <a:chExt cx="0" cy="0"/>
        </a:xfrm>
      </p:grpSpPr>
      <p:sp>
        <p:nvSpPr>
          <p:cNvPr id="2" name="Text 0"/>
          <p:cNvSpPr/>
          <p:nvPr/>
        </p:nvSpPr>
        <p:spPr>
          <a:xfrm>
            <a:off x="548640" y="4754880"/>
            <a:ext cx="5486400" cy="274320"/>
          </a:xfrm>
          <a:prstGeom prst="rect">
            <a:avLst/>
          </a:prstGeom>
          <a:noFill/>
          <a:ln/>
        </p:spPr>
        <p:txBody>
          <a:bodyPr wrap="square" lIns="0" tIns="0" rIns="0" bIns="0" rtlCol="0" anchor="ctr"/>
          <a:lstStyle/>
          <a:p>
            <a:pPr indent="0" marL="0">
              <a:buNone/>
            </a:pPr>
            <a:r>
              <a:rPr lang="en-US" sz="1000" dirty="0">
                <a:solidFill>
                  <a:schemeClr val="accent2"/>
                </a:solidFill>
              </a:rPr>
              <a:t>Schneider Electric Services · Growth strategy</a:t>
            </a:r>
            <a:endParaRPr lang="en-US" sz="10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D3A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ccent">
    <p:bg>
      <p:bgPr>
        <a:solidFill>
          <a:srgbClr val="1F6B40"/>
        </a:solidFill>
      </p:bgPr>
    </p:bg>
    <p:spTree>
      <p:nvGrpSpPr>
        <p:cNvPr id="1" name=""/>
        <p:cNvGrpSpPr/>
        <p:nvPr/>
      </p:nvGrpSpPr>
      <p:grpSpPr>
        <a:xfrm>
          <a:off x="0" y="0"/>
          <a:ext cx="0" cy="0"/>
          <a:chOff x="0" y="0"/>
          <a:chExt cx="0" cy="0"/>
        </a:xfrm>
      </p:grpSpPr>
      <p:sp>
        <p:nvSpPr>
          <p:cNvPr id="2" name="Text 0"/>
          <p:cNvSpPr/>
          <p:nvPr/>
        </p:nvSpPr>
        <p:spPr>
          <a:xfrm>
            <a:off x="548640" y="4754880"/>
            <a:ext cx="5486400" cy="274320"/>
          </a:xfrm>
          <a:prstGeom prst="rect">
            <a:avLst/>
          </a:prstGeom>
          <a:noFill/>
          <a:ln/>
        </p:spPr>
        <p:txBody>
          <a:bodyPr wrap="square" lIns="0" tIns="0" rIns="0" bIns="0" rtlCol="0" anchor="ctr"/>
          <a:lstStyle/>
          <a:p>
            <a:pPr indent="0" marL="0">
              <a:buNone/>
            </a:pPr>
            <a:r>
              <a:rPr lang="en-US" sz="1000" dirty="0">
                <a:solidFill>
                  <a:srgbClr val="D5EEDD"/>
                </a:solidFill>
              </a:rPr>
              <a:t>Schneider Electric Services · Growth strategy</a:t>
            </a:r>
            <a:endParaRPr lang="en-US" sz="10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5EEDD"/>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56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9728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LEADERSHIP REVIEW · [DATE]</a:t>
            </a:r>
            <a:endParaRPr lang="en-US" sz="1200" dirty="0"/>
          </a:p>
        </p:txBody>
      </p:sp>
      <p:sp>
        <p:nvSpPr>
          <p:cNvPr id="3" name="Text 1"/>
          <p:cNvSpPr txBox="1"/>
          <p:nvPr/>
        </p:nvSpPr>
        <p:spPr>
          <a:xfrm>
            <a:off x="548640" y="1371600"/>
            <a:ext cx="8046720" cy="1188720"/>
          </a:xfrm>
          <a:prstGeom prst="rect">
            <a:avLst/>
          </a:prstGeom>
          <a:noFill/>
          <a:ln/>
        </p:spPr>
        <p:txBody>
          <a:bodyPr wrap="square" lIns="0" tIns="0" rIns="0" bIns="0" rtlCol="0" anchor="t"/>
          <a:lstStyle/>
          <a:p>
            <a:pPr indent="0" marL="0">
              <a:buNone/>
            </a:pPr>
            <a:r>
              <a:rPr lang="en-US" sz="4400" b="1" dirty="0">
                <a:solidFill>
                  <a:schemeClr val="bg1"/>
                </a:solidFill>
              </a:rPr>
              <a:t>Growing Schneider Electric Services</a:t>
            </a:r>
            <a:endParaRPr lang="en-US" sz="4400" dirty="0"/>
          </a:p>
        </p:txBody>
      </p:sp>
      <p:sp>
        <p:nvSpPr>
          <p:cNvPr id="4" name="Text 2"/>
          <p:cNvSpPr txBox="1"/>
          <p:nvPr/>
        </p:nvSpPr>
        <p:spPr>
          <a:xfrm>
            <a:off x="548640" y="2880360"/>
            <a:ext cx="7315200" cy="731520"/>
          </a:xfrm>
          <a:prstGeom prst="rect">
            <a:avLst/>
          </a:prstGeom>
          <a:noFill/>
          <a:ln/>
        </p:spPr>
        <p:txBody>
          <a:bodyPr wrap="square" lIns="0" tIns="0" rIns="0" bIns="0" rtlCol="0" anchor="t"/>
          <a:lstStyle/>
          <a:p>
            <a:pPr indent="0" marL="0">
              <a:buNone/>
            </a:pPr>
            <a:r>
              <a:rPr lang="en-US" sz="1800" dirty="0">
                <a:solidFill>
                  <a:srgbClr val="BFD3C6"/>
                </a:solidFill>
              </a:rPr>
              <a:t>Defend the core, scale digital services, and win in the new energy landscape for data centers and AI</a:t>
            </a:r>
            <a:endParaRPr lang="en-US" sz="1800" dirty="0"/>
          </a:p>
        </p:txBody>
      </p:sp>
      <p:sp>
        <p:nvSpPr>
          <p:cNvPr id="5" name="Text 3"/>
          <p:cNvSpPr txBox="1"/>
          <p:nvPr/>
        </p:nvSpPr>
        <p:spPr>
          <a:xfrm>
            <a:off x="548640" y="4023360"/>
            <a:ext cx="8046720" cy="320040"/>
          </a:xfrm>
          <a:prstGeom prst="rect">
            <a:avLst/>
          </a:prstGeom>
          <a:noFill/>
          <a:ln/>
        </p:spPr>
        <p:txBody>
          <a:bodyPr wrap="square" lIns="0" tIns="0" rIns="0" bIns="0" rtlCol="0" anchor="ctr"/>
          <a:lstStyle/>
          <a:p>
            <a:pPr indent="0" marL="0">
              <a:buNone/>
            </a:pPr>
            <a:r>
              <a:rPr lang="en-US" sz="1400" dirty="0">
                <a:solidFill>
                  <a:srgbClr val="BFD3C6"/>
                </a:solidFill>
              </a:rPr>
              <a:t>Chen · Business Development &amp; Product Leader, Schneider Electric Services</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D3A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BACKGROUND</a:t>
            </a:r>
            <a:endParaRPr lang="en-US" sz="1100" dirty="0"/>
          </a:p>
        </p:txBody>
      </p:sp>
      <p:sp>
        <p:nvSpPr>
          <p:cNvPr id="3" name="Title"/>
          <p:cNvSpPr txBox="1"/>
          <p:nvPr/>
        </p:nvSpPr>
        <p:spPr>
          <a:xfrm>
            <a:off x="548640" y="685800"/>
            <a:ext cx="8046720" cy="685800"/>
          </a:xfrm>
          <a:prstGeom prst="rect">
            <a:avLst/>
          </a:prstGeom>
          <a:noFill/>
          <a:ln/>
        </p:spPr>
        <p:txBody>
          <a:bodyPr wrap="square" lIns="0" tIns="0" rIns="0" bIns="0" rtlCol="0" anchor="t"/>
          <a:lstStyle/>
          <a:p>
            <a:pPr indent="0" marL="0">
              <a:buNone/>
            </a:pPr>
            <a:r>
              <a:rPr lang="en-US" sz="2800" b="1" dirty="0">
                <a:solidFill>
                  <a:schemeClr val="tx1"/>
                </a:solidFill>
                <a:latin typeface="Calibri" pitchFamily="34" charset="0"/>
                <a:ea typeface="Calibri" pitchFamily="34" charset="-122"/>
                <a:cs typeface="Calibri" pitchFamily="34" charset="-120"/>
              </a:rPr>
              <a:t>The market is shifting under the service business</a:t>
            </a:r>
            <a:endParaRPr lang="en-US" sz="2800" dirty="0"/>
          </a:p>
        </p:txBody>
      </p:sp>
      <p:sp>
        <p:nvSpPr>
          <p:cNvPr id="4" name="Card"/>
          <p:cNvSpPr/>
          <p:nvPr/>
        </p:nvSpPr>
        <p:spPr>
          <a:xfrm>
            <a:off x="548640" y="1600200"/>
            <a:ext cx="2532888" cy="2011680"/>
          </a:xfrm>
          <a:prstGeom prst="roundRect">
            <a:avLst>
              <a:gd name="adj" fmla="val 3636"/>
            </a:avLst>
          </a:prstGeom>
          <a:solidFill>
            <a:schemeClr val="bg1"/>
          </a:solidFill>
          <a:ln w="9525">
            <a:solidFill>
              <a:schemeClr val="accent6"/>
            </a:solidFill>
            <a:prstDash val="solid"/>
          </a:ln>
        </p:spPr>
      </p:sp>
      <p:sp>
        <p:nvSpPr>
          <p:cNvPr id="5" name="Text 3"/>
          <p:cNvSpPr txBox="1"/>
          <p:nvPr/>
        </p:nvSpPr>
        <p:spPr>
          <a:xfrm>
            <a:off x="777240" y="1783080"/>
            <a:ext cx="2075688" cy="594360"/>
          </a:xfrm>
          <a:prstGeom prst="rect">
            <a:avLst/>
          </a:prstGeom>
          <a:noFill/>
          <a:ln/>
        </p:spPr>
        <p:txBody>
          <a:bodyPr wrap="square" lIns="0" tIns="0" rIns="0" bIns="0" rtlCol="0" anchor="t"/>
          <a:lstStyle/>
          <a:p>
            <a:pPr indent="0" marL="0">
              <a:buNone/>
            </a:pPr>
            <a:r>
              <a:rPr lang="en-US" sz="1800" b="1" dirty="0">
                <a:solidFill>
                  <a:schemeClr val="tx1"/>
                </a:solidFill>
              </a:rPr>
              <a:t>Maintenance is commoditizing</a:t>
            </a:r>
            <a:endParaRPr lang="en-US" sz="1800" dirty="0"/>
          </a:p>
        </p:txBody>
      </p:sp>
      <p:sp>
        <p:nvSpPr>
          <p:cNvPr id="6" name="Text 4"/>
          <p:cNvSpPr txBox="1"/>
          <p:nvPr/>
        </p:nvSpPr>
        <p:spPr>
          <a:xfrm>
            <a:off x="777240" y="2423160"/>
            <a:ext cx="2075688" cy="1097280"/>
          </a:xfrm>
          <a:prstGeom prst="rect">
            <a:avLst/>
          </a:prstGeom>
          <a:noFill/>
          <a:ln/>
        </p:spPr>
        <p:txBody>
          <a:bodyPr wrap="square" lIns="0" tIns="0" rIns="0" bIns="0" rtlCol="0" anchor="t"/>
          <a:lstStyle/>
          <a:p>
            <a:pPr indent="0" marL="0">
              <a:buNone/>
            </a:pPr>
            <a:r>
              <a:rPr lang="en-US" sz="1400" dirty="0">
                <a:solidFill>
                  <a:schemeClr val="tx2"/>
                </a:solidFill>
              </a:rPr>
              <a:t>Customers compare routine maintenance with lower-cost independent service providers.</a:t>
            </a:r>
            <a:endParaRPr lang="en-US" sz="1400" dirty="0"/>
          </a:p>
        </p:txBody>
      </p:sp>
      <p:sp>
        <p:nvSpPr>
          <p:cNvPr id="7" name="Card"/>
          <p:cNvSpPr/>
          <p:nvPr/>
        </p:nvSpPr>
        <p:spPr>
          <a:xfrm>
            <a:off x="3264408" y="1600200"/>
            <a:ext cx="2532888" cy="2011680"/>
          </a:xfrm>
          <a:prstGeom prst="roundRect">
            <a:avLst>
              <a:gd name="adj" fmla="val 3636"/>
            </a:avLst>
          </a:prstGeom>
          <a:solidFill>
            <a:schemeClr val="bg1"/>
          </a:solidFill>
          <a:ln w="9525">
            <a:solidFill>
              <a:schemeClr val="accent6"/>
            </a:solidFill>
            <a:prstDash val="solid"/>
          </a:ln>
        </p:spPr>
      </p:sp>
      <p:sp>
        <p:nvSpPr>
          <p:cNvPr id="8" name="Text 6"/>
          <p:cNvSpPr txBox="1"/>
          <p:nvPr/>
        </p:nvSpPr>
        <p:spPr>
          <a:xfrm>
            <a:off x="3493008" y="1783080"/>
            <a:ext cx="2075688" cy="594360"/>
          </a:xfrm>
          <a:prstGeom prst="rect">
            <a:avLst/>
          </a:prstGeom>
          <a:noFill/>
          <a:ln/>
        </p:spPr>
        <p:txBody>
          <a:bodyPr wrap="square" lIns="0" tIns="0" rIns="0" bIns="0" rtlCol="0" anchor="t"/>
          <a:lstStyle/>
          <a:p>
            <a:pPr indent="0" marL="0">
              <a:buNone/>
            </a:pPr>
            <a:r>
              <a:rPr lang="en-US" sz="1800" b="1" dirty="0">
                <a:solidFill>
                  <a:schemeClr val="tx1"/>
                </a:solidFill>
              </a:rPr>
              <a:t>Customers want outcomes</a:t>
            </a:r>
            <a:endParaRPr lang="en-US" sz="1800" dirty="0"/>
          </a:p>
        </p:txBody>
      </p:sp>
      <p:sp>
        <p:nvSpPr>
          <p:cNvPr id="9" name="Text 7"/>
          <p:cNvSpPr txBox="1"/>
          <p:nvPr/>
        </p:nvSpPr>
        <p:spPr>
          <a:xfrm>
            <a:off x="3493008" y="2423160"/>
            <a:ext cx="2075688" cy="1097280"/>
          </a:xfrm>
          <a:prstGeom prst="rect">
            <a:avLst/>
          </a:prstGeom>
          <a:noFill/>
          <a:ln/>
        </p:spPr>
        <p:txBody>
          <a:bodyPr wrap="square" lIns="0" tIns="0" rIns="0" bIns="0" rtlCol="0" anchor="t"/>
          <a:lstStyle/>
          <a:p>
            <a:pPr indent="0" marL="0">
              <a:buNone/>
            </a:pPr>
            <a:r>
              <a:rPr lang="en-US" sz="1400" dirty="0">
                <a:solidFill>
                  <a:schemeClr val="tx2"/>
                </a:solidFill>
              </a:rPr>
              <a:t>Lower energy costs, higher uptime, longer asset life, and sustainability commitments.</a:t>
            </a:r>
            <a:endParaRPr lang="en-US" sz="1400" dirty="0"/>
          </a:p>
        </p:txBody>
      </p:sp>
      <p:sp>
        <p:nvSpPr>
          <p:cNvPr id="10" name="Card"/>
          <p:cNvSpPr/>
          <p:nvPr/>
        </p:nvSpPr>
        <p:spPr>
          <a:xfrm>
            <a:off x="5980176" y="1600200"/>
            <a:ext cx="2532888" cy="2011680"/>
          </a:xfrm>
          <a:prstGeom prst="roundRect">
            <a:avLst>
              <a:gd name="adj" fmla="val 3636"/>
            </a:avLst>
          </a:prstGeom>
          <a:solidFill>
            <a:schemeClr val="bg1"/>
          </a:solidFill>
          <a:ln w="9525">
            <a:solidFill>
              <a:schemeClr val="accent6"/>
            </a:solidFill>
            <a:prstDash val="solid"/>
          </a:ln>
        </p:spPr>
      </p:sp>
      <p:sp>
        <p:nvSpPr>
          <p:cNvPr id="11" name="Text 9"/>
          <p:cNvSpPr txBox="1"/>
          <p:nvPr/>
        </p:nvSpPr>
        <p:spPr>
          <a:xfrm>
            <a:off x="6208776" y="1783080"/>
            <a:ext cx="2075688" cy="594360"/>
          </a:xfrm>
          <a:prstGeom prst="rect">
            <a:avLst/>
          </a:prstGeom>
          <a:noFill/>
          <a:ln/>
        </p:spPr>
        <p:txBody>
          <a:bodyPr wrap="square" lIns="0" tIns="0" rIns="0" bIns="0" rtlCol="0" anchor="t"/>
          <a:lstStyle/>
          <a:p>
            <a:pPr indent="0" marL="0">
              <a:buNone/>
            </a:pPr>
            <a:r>
              <a:rPr lang="en-US" sz="1800" b="1" dirty="0">
                <a:solidFill>
                  <a:schemeClr val="tx1"/>
                </a:solidFill>
              </a:rPr>
              <a:t>Competitors are going digital</a:t>
            </a:r>
            <a:endParaRPr lang="en-US" sz="1800" dirty="0"/>
          </a:p>
        </p:txBody>
      </p:sp>
      <p:sp>
        <p:nvSpPr>
          <p:cNvPr id="12" name="Text 10"/>
          <p:cNvSpPr txBox="1"/>
          <p:nvPr/>
        </p:nvSpPr>
        <p:spPr>
          <a:xfrm>
            <a:off x="6208776" y="2423160"/>
            <a:ext cx="2075688" cy="1097280"/>
          </a:xfrm>
          <a:prstGeom prst="rect">
            <a:avLst/>
          </a:prstGeom>
          <a:noFill/>
          <a:ln/>
        </p:spPr>
        <p:txBody>
          <a:bodyPr wrap="square" lIns="0" tIns="0" rIns="0" bIns="0" rtlCol="0" anchor="t"/>
          <a:lstStyle/>
          <a:p>
            <a:pPr indent="0" marL="0">
              <a:buNone/>
            </a:pPr>
            <a:r>
              <a:rPr lang="en-US" sz="1400" dirty="0">
                <a:solidFill>
                  <a:schemeClr val="tx2"/>
                </a:solidFill>
              </a:rPr>
              <a:t>Predictive maintenance, remote operations, AI analytics, and outcome-based agreements.</a:t>
            </a:r>
            <a:endParaRPr lang="en-US" sz="1400" dirty="0"/>
          </a:p>
        </p:txBody>
      </p:sp>
      <p:sp>
        <p:nvSpPr>
          <p:cNvPr id="13" name="Text 11"/>
          <p:cNvSpPr txBox="1"/>
          <p:nvPr/>
        </p:nvSpPr>
        <p:spPr>
          <a:xfrm>
            <a:off x="548640" y="3886200"/>
            <a:ext cx="8046720" cy="457200"/>
          </a:xfrm>
          <a:prstGeom prst="rect">
            <a:avLst/>
          </a:prstGeom>
          <a:noFill/>
          <a:ln/>
        </p:spPr>
        <p:txBody>
          <a:bodyPr wrap="square" lIns="0" tIns="0" rIns="0" bIns="0" rtlCol="0" anchor="ctr"/>
          <a:lstStyle/>
          <a:p>
            <a:pPr indent="0" marL="0">
              <a:buNone/>
            </a:pPr>
            <a:r>
              <a:rPr lang="en-US" sz="1600" b="1" dirty="0">
                <a:solidFill>
                  <a:schemeClr val="accent1"/>
                </a:solidFill>
              </a:rPr>
              <a:t>Service growth has historically tracked hardware installations. That link is weakening.</a:t>
            </a:r>
            <a:endParaRPr lang="en-US" sz="16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56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BACKGROUND</a:t>
            </a:r>
            <a:endParaRPr lang="en-US" sz="1100" dirty="0"/>
          </a:p>
        </p:txBody>
      </p:sp>
      <p:sp>
        <p:nvSpPr>
          <p:cNvPr id="3" name="Title"/>
          <p:cNvSpPr txBox="1"/>
          <p:nvPr/>
        </p:nvSpPr>
        <p:spPr>
          <a:xfrm>
            <a:off x="548640" y="685800"/>
            <a:ext cx="8046720" cy="685800"/>
          </a:xfrm>
          <a:prstGeom prst="rect">
            <a:avLst/>
          </a:prstGeom>
          <a:noFill/>
          <a:ln/>
        </p:spPr>
        <p:txBody>
          <a:bodyPr wrap="square" lIns="0" tIns="0" rIns="0" bIns="0" rtlCol="0" anchor="t"/>
          <a:lstStyle/>
          <a:p>
            <a:pPr indent="0" marL="0">
              <a:buNone/>
            </a:pPr>
            <a:r>
              <a:rPr lang="en-US" sz="2800" b="1" dirty="0">
                <a:solidFill>
                  <a:schemeClr val="tx1"/>
                </a:solidFill>
                <a:latin typeface="Calibri" pitchFamily="34" charset="0"/>
                <a:ea typeface="Calibri" pitchFamily="34" charset="-122"/>
                <a:cs typeface="Calibri" pitchFamily="34" charset="-120"/>
              </a:rPr>
              <a:t>Our pillars: strong today, ranked differently tomorrow</a:t>
            </a:r>
            <a:endParaRPr lang="en-US" sz="2800" dirty="0"/>
          </a:p>
        </p:txBody>
      </p:sp>
      <p:graphicFrame>
        <p:nvGraphicFramePr>
          <p:cNvPr id="4" name="Pillar table"/>
          <p:cNvGraphicFramePr>
            <a:graphicFrameLocks noGrp="1"/>
          </p:cNvGraphicFramePr>
          <p:nvPr>
            <p:extLst>
              <p:ext uri="{D42A27DB-BD31-4B8C-83A1-F6EECF244321}">
                <p14:modId xmlns:p14="http://schemas.microsoft.com/office/powerpoint/2010/main" val="1579011935"/>
              </p:ext>
            </p:extLst>
          </p:nvPr>
        </p:nvGraphicFramePr>
        <p:xfrm>
          <a:off x="548640" y="1508760"/>
          <a:ext cx="8046720" cy="914400"/>
        </p:xfrm>
        <a:graphic>
          <a:graphicData uri="http://schemas.openxmlformats.org/drawingml/2006/table">
            <a:tbl>
              <a:tblPr/>
              <a:tblGrid>
                <a:gridCol w="2194560"/>
                <a:gridCol w="1005840"/>
                <a:gridCol w="1645920"/>
                <a:gridCol w="3200400"/>
              </a:tblGrid>
              <a:tr h="329184">
                <a:tc>
                  <a:txBody>
                    <a:bodyPr/>
                    <a:lstStyle/>
                    <a:p>
                      <a:pPr algn="l" indent="0" marL="0">
                        <a:buNone/>
                      </a:pPr>
                      <a:r>
                        <a:rPr lang="en-US" sz="1200" b="1" dirty="0">
                          <a:solidFill>
                            <a:schemeClr val="tx1"/>
                          </a:solidFill>
                        </a:rPr>
                        <a:t>Pillar</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E6ECE5"/>
                    </a:solidFill>
                  </a:tcPr>
                </a:tc>
                <a:tc>
                  <a:txBody>
                    <a:bodyPr/>
                    <a:lstStyle/>
                    <a:p>
                      <a:pPr algn="ctr" indent="0" marL="0">
                        <a:buNone/>
                      </a:pPr>
                      <a:r>
                        <a:rPr lang="en-US" sz="1200" b="1" dirty="0">
                          <a:solidFill>
                            <a:schemeClr val="tx1"/>
                          </a:solidFill>
                        </a:rPr>
                        <a:t>Today rank</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E6ECE5"/>
                    </a:solidFill>
                  </a:tcPr>
                </a:tc>
                <a:tc>
                  <a:txBody>
                    <a:bodyPr/>
                    <a:lstStyle/>
                    <a:p>
                      <a:pPr algn="ctr" indent="0" marL="0">
                        <a:buNone/>
                      </a:pPr>
                      <a:r>
                        <a:rPr lang="en-US" sz="1200" b="1" dirty="0">
                          <a:solidFill>
                            <a:schemeClr val="tx1"/>
                          </a:solidFill>
                        </a:rPr>
                        <a:t>Future rank</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E6ECE5"/>
                    </a:solidFill>
                  </a:tcPr>
                </a:tc>
                <a:tc>
                  <a:txBody>
                    <a:bodyPr/>
                    <a:lstStyle/>
                    <a:p>
                      <a:pPr algn="l" indent="0" marL="0">
                        <a:buNone/>
                      </a:pPr>
                      <a:r>
                        <a:rPr lang="en-US" sz="1200" b="1" dirty="0">
                          <a:solidFill>
                            <a:schemeClr val="tx1"/>
                          </a:solidFill>
                        </a:rPr>
                        <a:t>Role</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E6ECE5"/>
                    </a:solidFill>
                  </a:tcPr>
                </a:tc>
              </a:tr>
              <a:tr h="329184">
                <a:tc>
                  <a:txBody>
                    <a:bodyPr/>
                    <a:lstStyle/>
                    <a:p>
                      <a:pPr algn="l" indent="0" marL="0">
                        <a:buNone/>
                      </a:pPr>
                      <a:r>
                        <a:rPr lang="en-US" sz="1200" dirty="0">
                          <a:solidFill>
                            <a:schemeClr val="tx1"/>
                          </a:solidFill>
                        </a:rPr>
                        <a:t>EcoCare</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1</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2</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Core engine: protect and keep growing</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chemeClr val="tx1"/>
                          </a:solidFill>
                        </a:rPr>
                        <a:t>EcoFit</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2</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4</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Cash engine: monetize the installed base</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chemeClr val="tx1"/>
                          </a:solidFill>
                        </a:rPr>
                        <a:t>Field Services</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3</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Not ranked</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Enabler: delivery capacity for every pillar</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r>
              <a:tr h="329184">
                <a:tc>
                  <a:txBody>
                    <a:bodyPr/>
                    <a:lstStyle/>
                    <a:p>
                      <a:pPr algn="l" indent="0" marL="0">
                        <a:buNone/>
                      </a:pPr>
                      <a:r>
                        <a:rPr lang="en-US" sz="1200" b="1" dirty="0">
                          <a:solidFill>
                            <a:schemeClr val="tx1"/>
                          </a:solidFill>
                        </a:rPr>
                        <a:t>Digital Services</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DDEFE2"/>
                    </a:solidFill>
                  </a:tcPr>
                </a:tc>
                <a:tc>
                  <a:txBody>
                    <a:bodyPr/>
                    <a:lstStyle/>
                    <a:p>
                      <a:pPr algn="ctr" indent="0" marL="0">
                        <a:buNone/>
                      </a:pPr>
                      <a:r>
                        <a:rPr lang="en-US" sz="1200" b="1" dirty="0">
                          <a:solidFill>
                            <a:schemeClr val="tx1"/>
                          </a:solidFill>
                        </a:rPr>
                        <a:t>4</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DDEFE2"/>
                    </a:solidFill>
                  </a:tcPr>
                </a:tc>
                <a:tc>
                  <a:txBody>
                    <a:bodyPr/>
                    <a:lstStyle/>
                    <a:p>
                      <a:pPr algn="ctr" indent="0" marL="0">
                        <a:buNone/>
                      </a:pPr>
                      <a:r>
                        <a:rPr lang="en-US" sz="1200" b="1" dirty="0">
                          <a:solidFill>
                            <a:schemeClr val="tx1"/>
                          </a:solidFill>
                        </a:rPr>
                        <a:t>1</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DDEFE2"/>
                    </a:solidFill>
                  </a:tcPr>
                </a:tc>
                <a:tc>
                  <a:txBody>
                    <a:bodyPr/>
                    <a:lstStyle/>
                    <a:p>
                      <a:pPr algn="l" indent="0" marL="0">
                        <a:buNone/>
                      </a:pPr>
                      <a:r>
                        <a:rPr lang="en-US" sz="1200" b="1" dirty="0">
                          <a:solidFill>
                            <a:schemeClr val="tx1"/>
                          </a:solidFill>
                        </a:rPr>
                        <a:t>Growth engine: the biggest gap</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DDEFE2"/>
                    </a:solidFill>
                  </a:tcPr>
                </a:tc>
              </a:tr>
              <a:tr h="329184">
                <a:tc>
                  <a:txBody>
                    <a:bodyPr/>
                    <a:lstStyle/>
                    <a:p>
                      <a:pPr algn="l" indent="0" marL="0">
                        <a:buNone/>
                      </a:pPr>
                      <a:r>
                        <a:rPr lang="en-US" sz="1200" dirty="0">
                          <a:solidFill>
                            <a:schemeClr val="tx1"/>
                          </a:solidFill>
                        </a:rPr>
                        <a:t>Spare Parts</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5</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Not ranked</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Defend: margin and installed-base lock-in</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chemeClr val="tx1"/>
                          </a:solidFill>
                        </a:rPr>
                        <a:t>EcoConsult</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6</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3 (with Sustainability)</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Emerging: entry point for advisory deals</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chemeClr val="tx1"/>
                          </a:solidFill>
                        </a:rPr>
                        <a:t>Cybersecurity</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7</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5</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Emerging bet: build or partner</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chemeClr val="tx1"/>
                          </a:solidFill>
                        </a:rPr>
                        <a:t>Sustainability / Energy Advisory</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Not ranked</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ctr" indent="0" marL="0">
                        <a:buNone/>
                      </a:pPr>
                      <a:r>
                        <a:rPr lang="en-US" sz="1200" dirty="0">
                          <a:solidFill>
                            <a:schemeClr val="tx1"/>
                          </a:solidFill>
                        </a:rPr>
                        <a:t>3</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algn="l" indent="0" marL="0">
                        <a:buNone/>
                      </a:pPr>
                      <a:r>
                        <a:rPr lang="en-US" sz="1200" dirty="0">
                          <a:solidFill>
                            <a:schemeClr val="tx1"/>
                          </a:solidFill>
                        </a:rPr>
                        <a:t>Emerging: rising with energy pressure</a:t>
                      </a:r>
                      <a:endParaRPr lang="en-US" sz="12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56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BACKGROUND</a:t>
            </a:r>
            <a:endParaRPr lang="en-US" sz="1100" dirty="0"/>
          </a:p>
        </p:txBody>
      </p:sp>
      <p:sp>
        <p:nvSpPr>
          <p:cNvPr id="3" name="Title"/>
          <p:cNvSpPr txBox="1"/>
          <p:nvPr/>
        </p:nvSpPr>
        <p:spPr>
          <a:xfrm>
            <a:off x="548640" y="685800"/>
            <a:ext cx="8046720" cy="685800"/>
          </a:xfrm>
          <a:prstGeom prst="rect">
            <a:avLst/>
          </a:prstGeom>
          <a:noFill/>
          <a:ln/>
        </p:spPr>
        <p:txBody>
          <a:bodyPr wrap="square" lIns="0" tIns="0" rIns="0" bIns="0" rtlCol="0" anchor="t"/>
          <a:lstStyle/>
          <a:p>
            <a:pPr indent="0" marL="0">
              <a:buNone/>
            </a:pPr>
            <a:r>
              <a:rPr lang="en-US" sz="2800" b="1" dirty="0">
                <a:solidFill>
                  <a:schemeClr val="tx1"/>
                </a:solidFill>
                <a:latin typeface="Calibri" pitchFamily="34" charset="0"/>
                <a:ea typeface="Calibri" pitchFamily="34" charset="-122"/>
                <a:cs typeface="Calibri" pitchFamily="34" charset="-120"/>
              </a:rPr>
              <a:t>Three schools of thought on growth</a:t>
            </a:r>
            <a:endParaRPr lang="en-US" sz="2800" dirty="0"/>
          </a:p>
        </p:txBody>
      </p:sp>
      <p:sp>
        <p:nvSpPr>
          <p:cNvPr id="4" name="Card"/>
          <p:cNvSpPr/>
          <p:nvPr/>
        </p:nvSpPr>
        <p:spPr>
          <a:xfrm>
            <a:off x="548640" y="1600200"/>
            <a:ext cx="2532888" cy="2240280"/>
          </a:xfrm>
          <a:prstGeom prst="roundRect">
            <a:avLst>
              <a:gd name="adj" fmla="val 3265"/>
            </a:avLst>
          </a:prstGeom>
          <a:solidFill>
            <a:schemeClr val="bg1"/>
          </a:solidFill>
          <a:ln w="9525">
            <a:solidFill>
              <a:schemeClr val="accent6"/>
            </a:solidFill>
            <a:prstDash val="solid"/>
          </a:ln>
        </p:spPr>
      </p:sp>
      <p:sp>
        <p:nvSpPr>
          <p:cNvPr id="5" name="Text 3"/>
          <p:cNvSpPr txBox="1"/>
          <p:nvPr/>
        </p:nvSpPr>
        <p:spPr>
          <a:xfrm>
            <a:off x="777240" y="1755648"/>
            <a:ext cx="118872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STRATEGY A</a:t>
            </a:r>
            <a:endParaRPr lang="en-US" sz="1100" dirty="0"/>
          </a:p>
        </p:txBody>
      </p:sp>
      <p:sp>
        <p:nvSpPr>
          <p:cNvPr id="6" name="Text 4"/>
          <p:cNvSpPr txBox="1"/>
          <p:nvPr/>
        </p:nvSpPr>
        <p:spPr>
          <a:xfrm>
            <a:off x="777240" y="2103120"/>
            <a:ext cx="2075688" cy="594360"/>
          </a:xfrm>
          <a:prstGeom prst="rect">
            <a:avLst/>
          </a:prstGeom>
          <a:noFill/>
          <a:ln/>
        </p:spPr>
        <p:txBody>
          <a:bodyPr wrap="square" lIns="0" tIns="0" rIns="0" bIns="0" rtlCol="0" anchor="t"/>
          <a:lstStyle/>
          <a:p>
            <a:pPr indent="0" marL="0">
              <a:buNone/>
            </a:pPr>
            <a:r>
              <a:rPr lang="en-US" sz="1800" b="1" dirty="0">
                <a:solidFill>
                  <a:schemeClr val="tx1"/>
                </a:solidFill>
              </a:rPr>
              <a:t>Defend the core</a:t>
            </a:r>
            <a:endParaRPr lang="en-US" sz="1800" dirty="0"/>
          </a:p>
        </p:txBody>
      </p:sp>
      <p:sp>
        <p:nvSpPr>
          <p:cNvPr id="7" name="Text 5"/>
          <p:cNvSpPr txBox="1"/>
          <p:nvPr/>
        </p:nvSpPr>
        <p:spPr>
          <a:xfrm>
            <a:off x="777240" y="2743200"/>
            <a:ext cx="2075688" cy="1005840"/>
          </a:xfrm>
          <a:prstGeom prst="rect">
            <a:avLst/>
          </a:prstGeom>
          <a:noFill/>
          <a:ln/>
        </p:spPr>
        <p:txBody>
          <a:bodyPr wrap="square" lIns="0" tIns="0" rIns="0" bIns="0" rtlCol="0" anchor="t"/>
          <a:lstStyle/>
          <a:p>
            <a:pPr indent="0" marL="0">
              <a:buNone/>
            </a:pPr>
            <a:r>
              <a:rPr lang="en-US" sz="1300" dirty="0">
                <a:solidFill>
                  <a:schemeClr val="tx2"/>
                </a:solidFill>
              </a:rPr>
              <a:t>Strengthen maintenance offers and widen service coverage to protect installed-base revenue.</a:t>
            </a:r>
            <a:endParaRPr lang="en-US" sz="1300" dirty="0"/>
          </a:p>
        </p:txBody>
      </p:sp>
      <p:sp>
        <p:nvSpPr>
          <p:cNvPr id="8" name="Card"/>
          <p:cNvSpPr/>
          <p:nvPr/>
        </p:nvSpPr>
        <p:spPr>
          <a:xfrm>
            <a:off x="3264408" y="1600200"/>
            <a:ext cx="2532888" cy="2240280"/>
          </a:xfrm>
          <a:prstGeom prst="roundRect">
            <a:avLst>
              <a:gd name="adj" fmla="val 3265"/>
            </a:avLst>
          </a:prstGeom>
          <a:solidFill>
            <a:schemeClr val="bg1"/>
          </a:solidFill>
          <a:ln w="31750">
            <a:solidFill>
              <a:schemeClr val="accent1"/>
            </a:solidFill>
            <a:prstDash val="solid"/>
          </a:ln>
        </p:spPr>
      </p:sp>
      <p:sp>
        <p:nvSpPr>
          <p:cNvPr id="9" name="Text 7"/>
          <p:cNvSpPr txBox="1"/>
          <p:nvPr/>
        </p:nvSpPr>
        <p:spPr>
          <a:xfrm>
            <a:off x="3493008" y="1755648"/>
            <a:ext cx="1188720" cy="274320"/>
          </a:xfrm>
          <a:prstGeom prst="rect">
            <a:avLst/>
          </a:prstGeom>
          <a:noFill/>
          <a:ln/>
        </p:spPr>
        <p:txBody>
          <a:bodyPr wrap="square" lIns="0" tIns="0" rIns="0" bIns="0" rtlCol="0" anchor="ctr"/>
          <a:lstStyle/>
          <a:p>
            <a:pPr indent="0" marL="0">
              <a:buNone/>
            </a:pPr>
            <a:r>
              <a:rPr lang="en-US" sz="1100" b="1" spc="100" kern="0" dirty="0">
                <a:solidFill>
                  <a:schemeClr val="accent1"/>
                </a:solidFill>
              </a:rPr>
              <a:t>STRATEGY B</a:t>
            </a:r>
            <a:endParaRPr lang="en-US" sz="1100" dirty="0"/>
          </a:p>
        </p:txBody>
      </p:sp>
      <p:sp>
        <p:nvSpPr>
          <p:cNvPr id="10" name="Our bet pill"/>
          <p:cNvSpPr/>
          <p:nvPr/>
        </p:nvSpPr>
        <p:spPr>
          <a:xfrm>
            <a:off x="4837176" y="1737360"/>
            <a:ext cx="777240" cy="274320"/>
          </a:xfrm>
          <a:prstGeom prst="roundRect">
            <a:avLst>
              <a:gd name="adj" fmla="val 40000"/>
            </a:avLst>
          </a:prstGeom>
          <a:solidFill>
            <a:schemeClr val="accent1"/>
          </a:solidFill>
          <a:ln/>
        </p:spPr>
        <p:txBody>
          <a:bodyPr wrap="square" lIns="0" tIns="0" rIns="0" bIns="0" rtlCol="0" anchor="ctr"/>
          <a:lstStyle/>
          <a:p>
            <a:pPr algn="ctr" indent="0" marL="0">
              <a:buNone/>
            </a:pPr>
            <a:r>
              <a:rPr lang="en-US" sz="1000" b="1" dirty="0">
                <a:solidFill>
                  <a:schemeClr val="bg1"/>
                </a:solidFill>
              </a:rPr>
              <a:t>OUR BET</a:t>
            </a:r>
            <a:endParaRPr lang="en-US" sz="1000" dirty="0"/>
          </a:p>
        </p:txBody>
      </p:sp>
      <p:sp>
        <p:nvSpPr>
          <p:cNvPr id="11" name="Text 9"/>
          <p:cNvSpPr txBox="1"/>
          <p:nvPr/>
        </p:nvSpPr>
        <p:spPr>
          <a:xfrm>
            <a:off x="3493008" y="2103120"/>
            <a:ext cx="2075688" cy="594360"/>
          </a:xfrm>
          <a:prstGeom prst="rect">
            <a:avLst/>
          </a:prstGeom>
          <a:noFill/>
          <a:ln/>
        </p:spPr>
        <p:txBody>
          <a:bodyPr wrap="square" lIns="0" tIns="0" rIns="0" bIns="0" rtlCol="0" anchor="t"/>
          <a:lstStyle/>
          <a:p>
            <a:pPr indent="0" marL="0">
              <a:buNone/>
            </a:pPr>
            <a:r>
              <a:rPr lang="en-US" sz="1800" b="1" dirty="0">
                <a:solidFill>
                  <a:schemeClr val="tx1"/>
                </a:solidFill>
              </a:rPr>
              <a:t>Scale digital services</a:t>
            </a:r>
            <a:endParaRPr lang="en-US" sz="1800" dirty="0"/>
          </a:p>
        </p:txBody>
      </p:sp>
      <p:sp>
        <p:nvSpPr>
          <p:cNvPr id="12" name="Text 10"/>
          <p:cNvSpPr txBox="1"/>
          <p:nvPr/>
        </p:nvSpPr>
        <p:spPr>
          <a:xfrm>
            <a:off x="3493008" y="2743200"/>
            <a:ext cx="2075688" cy="1005840"/>
          </a:xfrm>
          <a:prstGeom prst="rect">
            <a:avLst/>
          </a:prstGeom>
          <a:noFill/>
          <a:ln/>
        </p:spPr>
        <p:txBody>
          <a:bodyPr wrap="square" lIns="0" tIns="0" rIns="0" bIns="0" rtlCol="0" anchor="t"/>
          <a:lstStyle/>
          <a:p>
            <a:pPr indent="0" marL="0">
              <a:buNone/>
            </a:pPr>
            <a:r>
              <a:rPr lang="en-US" sz="1300" dirty="0">
                <a:solidFill>
                  <a:schemeClr val="tx2"/>
                </a:solidFill>
              </a:rPr>
              <a:t>Accelerate remote monitoring, predictive analytics, and connected asset management.</a:t>
            </a:r>
            <a:endParaRPr lang="en-US" sz="1300" dirty="0"/>
          </a:p>
        </p:txBody>
      </p:sp>
      <p:sp>
        <p:nvSpPr>
          <p:cNvPr id="13" name="Card"/>
          <p:cNvSpPr/>
          <p:nvPr/>
        </p:nvSpPr>
        <p:spPr>
          <a:xfrm>
            <a:off x="5980176" y="1600200"/>
            <a:ext cx="2532888" cy="2240280"/>
          </a:xfrm>
          <a:prstGeom prst="roundRect">
            <a:avLst>
              <a:gd name="adj" fmla="val 3265"/>
            </a:avLst>
          </a:prstGeom>
          <a:solidFill>
            <a:schemeClr val="bg1"/>
          </a:solidFill>
          <a:ln w="9525">
            <a:solidFill>
              <a:schemeClr val="accent6"/>
            </a:solidFill>
            <a:prstDash val="solid"/>
          </a:ln>
        </p:spPr>
      </p:sp>
      <p:sp>
        <p:nvSpPr>
          <p:cNvPr id="14" name="Text 12"/>
          <p:cNvSpPr txBox="1"/>
          <p:nvPr/>
        </p:nvSpPr>
        <p:spPr>
          <a:xfrm>
            <a:off x="6208776" y="1755648"/>
            <a:ext cx="118872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STRATEGY C</a:t>
            </a:r>
            <a:endParaRPr lang="en-US" sz="1100" dirty="0"/>
          </a:p>
        </p:txBody>
      </p:sp>
      <p:sp>
        <p:nvSpPr>
          <p:cNvPr id="15" name="Text 13"/>
          <p:cNvSpPr txBox="1"/>
          <p:nvPr/>
        </p:nvSpPr>
        <p:spPr>
          <a:xfrm>
            <a:off x="6208776" y="2103120"/>
            <a:ext cx="2075688" cy="594360"/>
          </a:xfrm>
          <a:prstGeom prst="rect">
            <a:avLst/>
          </a:prstGeom>
          <a:noFill/>
          <a:ln/>
        </p:spPr>
        <p:txBody>
          <a:bodyPr wrap="square" lIns="0" tIns="0" rIns="0" bIns="0" rtlCol="0" anchor="t"/>
          <a:lstStyle/>
          <a:p>
            <a:pPr indent="0" marL="0">
              <a:buNone/>
            </a:pPr>
            <a:r>
              <a:rPr lang="en-US" sz="1800" b="1" dirty="0">
                <a:solidFill>
                  <a:schemeClr val="tx1"/>
                </a:solidFill>
              </a:rPr>
              <a:t>Data center, energy landscape and AI</a:t>
            </a:r>
            <a:endParaRPr lang="en-US" sz="1800" dirty="0"/>
          </a:p>
        </p:txBody>
      </p:sp>
      <p:sp>
        <p:nvSpPr>
          <p:cNvPr id="16" name="Text 14"/>
          <p:cNvSpPr txBox="1"/>
          <p:nvPr/>
        </p:nvSpPr>
        <p:spPr>
          <a:xfrm>
            <a:off x="6208776" y="2743200"/>
            <a:ext cx="2075688" cy="1005840"/>
          </a:xfrm>
          <a:prstGeom prst="rect">
            <a:avLst/>
          </a:prstGeom>
          <a:noFill/>
          <a:ln/>
        </p:spPr>
        <p:txBody>
          <a:bodyPr wrap="square" lIns="0" tIns="0" rIns="0" bIns="0" rtlCol="0" anchor="t"/>
          <a:lstStyle/>
          <a:p>
            <a:pPr indent="0" marL="0">
              <a:buNone/>
            </a:pPr>
            <a:r>
              <a:rPr lang="en-US" sz="1300" dirty="0">
                <a:solidFill>
                  <a:schemeClr val="tx2"/>
                </a:solidFill>
              </a:rPr>
              <a:t>Build services around AI-driven data center growth, the changing energy landscape, and AI transformation.</a:t>
            </a:r>
            <a:endParaRPr lang="en-US" sz="1300" dirty="0"/>
          </a:p>
        </p:txBody>
      </p:sp>
      <p:sp>
        <p:nvSpPr>
          <p:cNvPr id="17" name="Text 15"/>
          <p:cNvSpPr txBox="1"/>
          <p:nvPr/>
        </p:nvSpPr>
        <p:spPr>
          <a:xfrm>
            <a:off x="548640" y="4069080"/>
            <a:ext cx="8046720" cy="365760"/>
          </a:xfrm>
          <a:prstGeom prst="rect">
            <a:avLst/>
          </a:prstGeom>
          <a:noFill/>
          <a:ln/>
        </p:spPr>
        <p:txBody>
          <a:bodyPr wrap="square" lIns="0" tIns="0" rIns="0" bIns="0" rtlCol="0" anchor="ctr"/>
          <a:lstStyle/>
          <a:p>
            <a:pPr indent="0" marL="0">
              <a:buNone/>
            </a:pPr>
            <a:r>
              <a:rPr lang="en-US" sz="1600" dirty="0">
                <a:solidFill>
                  <a:schemeClr val="tx1"/>
                </a:solidFill>
              </a:rPr>
              <a:t>Limited resources mean </a:t>
            </a:r>
            <a:pPr indent="0" marL="0">
              <a:buNone/>
            </a:pPr>
            <a:r>
              <a:rPr lang="en-US" sz="1600" b="1" dirty="0">
                <a:solidFill>
                  <a:schemeClr val="tx1"/>
                </a:solidFill>
              </a:rPr>
              <a:t>one</a:t>
            </a:r>
            <a:pPr indent="0" marL="0">
              <a:buNone/>
            </a:pPr>
            <a:r>
              <a:rPr lang="en-US" sz="1600" dirty="0">
                <a:solidFill>
                  <a:schemeClr val="tx1"/>
                </a:solidFill>
              </a:rPr>
              <a:t> growth initiative gets priority.</a:t>
            </a:r>
            <a:endParaRPr lang="en-US" sz="16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56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BACKGROUND</a:t>
            </a:r>
            <a:endParaRPr lang="en-US" sz="1100" dirty="0"/>
          </a:p>
        </p:txBody>
      </p:sp>
      <p:sp>
        <p:nvSpPr>
          <p:cNvPr id="3" name="Title"/>
          <p:cNvSpPr txBox="1"/>
          <p:nvPr/>
        </p:nvSpPr>
        <p:spPr>
          <a:xfrm>
            <a:off x="548640" y="685800"/>
            <a:ext cx="8046720" cy="685800"/>
          </a:xfrm>
          <a:prstGeom prst="rect">
            <a:avLst/>
          </a:prstGeom>
          <a:noFill/>
          <a:ln/>
        </p:spPr>
        <p:txBody>
          <a:bodyPr wrap="square" lIns="0" tIns="0" rIns="0" bIns="0" rtlCol="0" anchor="t"/>
          <a:lstStyle/>
          <a:p>
            <a:pPr indent="0" marL="0">
              <a:buNone/>
            </a:pPr>
            <a:r>
              <a:rPr lang="en-US" sz="2800" b="1" dirty="0">
                <a:solidFill>
                  <a:schemeClr val="tx1"/>
                </a:solidFill>
                <a:latin typeface="Calibri" pitchFamily="34" charset="0"/>
                <a:ea typeface="Calibri" pitchFamily="34" charset="-122"/>
                <a:cs typeface="Calibri" pitchFamily="34" charset="-120"/>
              </a:rPr>
              <a:t>Any answer has to work within six constraints</a:t>
            </a:r>
            <a:endParaRPr lang="en-US" sz="2800" dirty="0"/>
          </a:p>
        </p:txBody>
      </p:sp>
      <p:sp>
        <p:nvSpPr>
          <p:cNvPr id="4" name="Card"/>
          <p:cNvSpPr/>
          <p:nvPr/>
        </p:nvSpPr>
        <p:spPr>
          <a:xfrm>
            <a:off x="548640" y="1600200"/>
            <a:ext cx="2532888" cy="1143000"/>
          </a:xfrm>
          <a:prstGeom prst="roundRect">
            <a:avLst>
              <a:gd name="adj" fmla="val 6400"/>
            </a:avLst>
          </a:prstGeom>
          <a:solidFill>
            <a:schemeClr val="bg1"/>
          </a:solidFill>
          <a:ln w="9525">
            <a:solidFill>
              <a:schemeClr val="accent6"/>
            </a:solidFill>
            <a:prstDash val="solid"/>
          </a:ln>
        </p:spPr>
      </p:sp>
      <p:sp>
        <p:nvSpPr>
          <p:cNvPr id="5" name="Text 3"/>
          <p:cNvSpPr txBox="1"/>
          <p:nvPr/>
        </p:nvSpPr>
        <p:spPr>
          <a:xfrm>
            <a:off x="777240" y="1737360"/>
            <a:ext cx="2075688" cy="868680"/>
          </a:xfrm>
          <a:prstGeom prst="rect">
            <a:avLst/>
          </a:prstGeom>
          <a:noFill/>
          <a:ln/>
        </p:spPr>
        <p:txBody>
          <a:bodyPr wrap="square" lIns="0" tIns="0" rIns="0" bIns="0" rtlCol="0" anchor="ctr"/>
          <a:lstStyle/>
          <a:p>
            <a:pPr indent="0" marL="0">
              <a:buNone/>
            </a:pPr>
            <a:r>
              <a:rPr lang="en-US" sz="1500" dirty="0">
                <a:solidFill>
                  <a:schemeClr val="tx1"/>
                </a:solidFill>
              </a:rPr>
              <a:t>Core maintenance revenue cannot be disrupted</a:t>
            </a:r>
            <a:endParaRPr lang="en-US" sz="1500" dirty="0"/>
          </a:p>
        </p:txBody>
      </p:sp>
      <p:sp>
        <p:nvSpPr>
          <p:cNvPr id="6" name="Card"/>
          <p:cNvSpPr/>
          <p:nvPr/>
        </p:nvSpPr>
        <p:spPr>
          <a:xfrm>
            <a:off x="3264408" y="1600200"/>
            <a:ext cx="2532888" cy="1143000"/>
          </a:xfrm>
          <a:prstGeom prst="roundRect">
            <a:avLst>
              <a:gd name="adj" fmla="val 6400"/>
            </a:avLst>
          </a:prstGeom>
          <a:solidFill>
            <a:schemeClr val="bg1"/>
          </a:solidFill>
          <a:ln w="9525">
            <a:solidFill>
              <a:schemeClr val="accent6"/>
            </a:solidFill>
            <a:prstDash val="solid"/>
          </a:ln>
        </p:spPr>
      </p:sp>
      <p:sp>
        <p:nvSpPr>
          <p:cNvPr id="7" name="Text 5"/>
          <p:cNvSpPr txBox="1"/>
          <p:nvPr/>
        </p:nvSpPr>
        <p:spPr>
          <a:xfrm>
            <a:off x="3493008" y="1737360"/>
            <a:ext cx="2075688" cy="868680"/>
          </a:xfrm>
          <a:prstGeom prst="rect">
            <a:avLst/>
          </a:prstGeom>
          <a:noFill/>
          <a:ln/>
        </p:spPr>
        <p:txBody>
          <a:bodyPr wrap="square" lIns="0" tIns="0" rIns="0" bIns="0" rtlCol="0" anchor="ctr"/>
          <a:lstStyle/>
          <a:p>
            <a:pPr indent="0" marL="0">
              <a:buNone/>
            </a:pPr>
            <a:r>
              <a:rPr lang="en-US" sz="1500" dirty="0">
                <a:solidFill>
                  <a:schemeClr val="tx1"/>
                </a:solidFill>
              </a:rPr>
              <a:t>Headcount growth is limited</a:t>
            </a:r>
            <a:endParaRPr lang="en-US" sz="1500" dirty="0"/>
          </a:p>
        </p:txBody>
      </p:sp>
      <p:sp>
        <p:nvSpPr>
          <p:cNvPr id="8" name="Card"/>
          <p:cNvSpPr/>
          <p:nvPr/>
        </p:nvSpPr>
        <p:spPr>
          <a:xfrm>
            <a:off x="5980176" y="1600200"/>
            <a:ext cx="2532888" cy="1143000"/>
          </a:xfrm>
          <a:prstGeom prst="roundRect">
            <a:avLst>
              <a:gd name="adj" fmla="val 6400"/>
            </a:avLst>
          </a:prstGeom>
          <a:solidFill>
            <a:schemeClr val="bg1"/>
          </a:solidFill>
          <a:ln w="9525">
            <a:solidFill>
              <a:schemeClr val="accent6"/>
            </a:solidFill>
            <a:prstDash val="solid"/>
          </a:ln>
        </p:spPr>
      </p:sp>
      <p:sp>
        <p:nvSpPr>
          <p:cNvPr id="9" name="Text 7"/>
          <p:cNvSpPr txBox="1"/>
          <p:nvPr/>
        </p:nvSpPr>
        <p:spPr>
          <a:xfrm>
            <a:off x="6208776" y="1737360"/>
            <a:ext cx="2075688" cy="868680"/>
          </a:xfrm>
          <a:prstGeom prst="rect">
            <a:avLst/>
          </a:prstGeom>
          <a:noFill/>
          <a:ln/>
        </p:spPr>
        <p:txBody>
          <a:bodyPr wrap="square" lIns="0" tIns="0" rIns="0" bIns="0" rtlCol="0" anchor="ctr"/>
          <a:lstStyle/>
          <a:p>
            <a:pPr indent="0" marL="0">
              <a:buNone/>
            </a:pPr>
            <a:r>
              <a:rPr lang="en-US" sz="1500" dirty="0">
                <a:solidFill>
                  <a:schemeClr val="tx1"/>
                </a:solidFill>
              </a:rPr>
              <a:t>Customers expect measurable value quickly</a:t>
            </a:r>
            <a:endParaRPr lang="en-US" sz="1500" dirty="0"/>
          </a:p>
        </p:txBody>
      </p:sp>
      <p:sp>
        <p:nvSpPr>
          <p:cNvPr id="10" name="Card"/>
          <p:cNvSpPr/>
          <p:nvPr/>
        </p:nvSpPr>
        <p:spPr>
          <a:xfrm>
            <a:off x="548640" y="2926080"/>
            <a:ext cx="2532888" cy="1143000"/>
          </a:xfrm>
          <a:prstGeom prst="roundRect">
            <a:avLst>
              <a:gd name="adj" fmla="val 6400"/>
            </a:avLst>
          </a:prstGeom>
          <a:solidFill>
            <a:schemeClr val="bg1"/>
          </a:solidFill>
          <a:ln w="9525">
            <a:solidFill>
              <a:schemeClr val="accent6"/>
            </a:solidFill>
            <a:prstDash val="solid"/>
          </a:ln>
        </p:spPr>
      </p:sp>
      <p:sp>
        <p:nvSpPr>
          <p:cNvPr id="11" name="Text 9"/>
          <p:cNvSpPr txBox="1"/>
          <p:nvPr/>
        </p:nvSpPr>
        <p:spPr>
          <a:xfrm>
            <a:off x="777240" y="3063240"/>
            <a:ext cx="2075688" cy="868680"/>
          </a:xfrm>
          <a:prstGeom prst="rect">
            <a:avLst/>
          </a:prstGeom>
          <a:noFill/>
          <a:ln/>
        </p:spPr>
        <p:txBody>
          <a:bodyPr wrap="square" lIns="0" tIns="0" rIns="0" bIns="0" rtlCol="0" anchor="ctr"/>
          <a:lstStyle/>
          <a:p>
            <a:pPr indent="0" marL="0">
              <a:buNone/>
            </a:pPr>
            <a:r>
              <a:rPr lang="en-US" sz="1500" dirty="0">
                <a:solidFill>
                  <a:schemeClr val="tx1"/>
                </a:solidFill>
              </a:rPr>
              <a:t>Independent providers compete hard on price</a:t>
            </a:r>
            <a:endParaRPr lang="en-US" sz="1500" dirty="0"/>
          </a:p>
        </p:txBody>
      </p:sp>
      <p:sp>
        <p:nvSpPr>
          <p:cNvPr id="12" name="Card"/>
          <p:cNvSpPr/>
          <p:nvPr/>
        </p:nvSpPr>
        <p:spPr>
          <a:xfrm>
            <a:off x="3264408" y="2926080"/>
            <a:ext cx="2532888" cy="1143000"/>
          </a:xfrm>
          <a:prstGeom prst="roundRect">
            <a:avLst>
              <a:gd name="adj" fmla="val 6400"/>
            </a:avLst>
          </a:prstGeom>
          <a:solidFill>
            <a:schemeClr val="bg1"/>
          </a:solidFill>
          <a:ln w="9525">
            <a:solidFill>
              <a:schemeClr val="accent6"/>
            </a:solidFill>
            <a:prstDash val="solid"/>
          </a:ln>
        </p:spPr>
      </p:sp>
      <p:sp>
        <p:nvSpPr>
          <p:cNvPr id="13" name="Text 11"/>
          <p:cNvSpPr txBox="1"/>
          <p:nvPr/>
        </p:nvSpPr>
        <p:spPr>
          <a:xfrm>
            <a:off x="3493008" y="3063240"/>
            <a:ext cx="2075688" cy="868680"/>
          </a:xfrm>
          <a:prstGeom prst="rect">
            <a:avLst/>
          </a:prstGeom>
          <a:noFill/>
          <a:ln/>
        </p:spPr>
        <p:txBody>
          <a:bodyPr wrap="square" lIns="0" tIns="0" rIns="0" bIns="0" rtlCol="0" anchor="ctr"/>
          <a:lstStyle/>
          <a:p>
            <a:pPr indent="0" marL="0">
              <a:buNone/>
            </a:pPr>
            <a:r>
              <a:rPr lang="en-US" sz="1500" dirty="0">
                <a:solidFill>
                  <a:schemeClr val="tx1"/>
                </a:solidFill>
              </a:rPr>
              <a:t>Business impact must show within three years</a:t>
            </a:r>
            <a:endParaRPr lang="en-US" sz="1500" dirty="0"/>
          </a:p>
        </p:txBody>
      </p:sp>
      <p:sp>
        <p:nvSpPr>
          <p:cNvPr id="14" name="Card"/>
          <p:cNvSpPr/>
          <p:nvPr/>
        </p:nvSpPr>
        <p:spPr>
          <a:xfrm>
            <a:off x="5980176" y="2926080"/>
            <a:ext cx="2532888" cy="1143000"/>
          </a:xfrm>
          <a:prstGeom prst="roundRect">
            <a:avLst>
              <a:gd name="adj" fmla="val 6400"/>
            </a:avLst>
          </a:prstGeom>
          <a:solidFill>
            <a:schemeClr val="bg1"/>
          </a:solidFill>
          <a:ln w="9525">
            <a:solidFill>
              <a:schemeClr val="accent6"/>
            </a:solidFill>
            <a:prstDash val="solid"/>
          </a:ln>
        </p:spPr>
      </p:sp>
      <p:sp>
        <p:nvSpPr>
          <p:cNvPr id="15" name="Text 13"/>
          <p:cNvSpPr txBox="1"/>
          <p:nvPr/>
        </p:nvSpPr>
        <p:spPr>
          <a:xfrm>
            <a:off x="6208776" y="3063240"/>
            <a:ext cx="2075688" cy="868680"/>
          </a:xfrm>
          <a:prstGeom prst="rect">
            <a:avLst/>
          </a:prstGeom>
          <a:noFill/>
          <a:ln/>
        </p:spPr>
        <p:txBody>
          <a:bodyPr wrap="square" lIns="0" tIns="0" rIns="0" bIns="0" rtlCol="0" anchor="ctr"/>
          <a:lstStyle/>
          <a:p>
            <a:pPr indent="0" marL="0">
              <a:buNone/>
            </a:pPr>
            <a:r>
              <a:rPr lang="en-US" sz="1500" dirty="0">
                <a:solidFill>
                  <a:schemeClr val="tx1"/>
                </a:solidFill>
              </a:rPr>
              <a:t>Existing contracts and commitments must be preserved</a:t>
            </a:r>
            <a:endParaRPr lang="en-US" sz="15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56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914400"/>
            <a:ext cx="7315200" cy="274320"/>
          </a:xfrm>
          <a:prstGeom prst="rect">
            <a:avLst/>
          </a:prstGeom>
          <a:noFill/>
          <a:ln/>
        </p:spPr>
        <p:txBody>
          <a:bodyPr wrap="square" lIns="0" tIns="0" rIns="0" bIns="0" rtlCol="0" anchor="ctr"/>
          <a:lstStyle/>
          <a:p>
            <a:pPr indent="0" marL="0">
              <a:buNone/>
            </a:pPr>
            <a:r>
              <a:rPr lang="en-US" sz="1200" b="1" spc="200" kern="0" dirty="0">
                <a:solidFill>
                  <a:schemeClr val="accent2"/>
                </a:solidFill>
              </a:rPr>
              <a:t>WINNING ASPIRATION</a:t>
            </a:r>
            <a:endParaRPr lang="en-US" sz="1200" dirty="0"/>
          </a:p>
        </p:txBody>
      </p:sp>
      <p:sp>
        <p:nvSpPr>
          <p:cNvPr id="3" name="Text 1"/>
          <p:cNvSpPr txBox="1"/>
          <p:nvPr/>
        </p:nvSpPr>
        <p:spPr>
          <a:xfrm>
            <a:off x="548640" y="1280160"/>
            <a:ext cx="7863840" cy="1188720"/>
          </a:xfrm>
          <a:prstGeom prst="rect">
            <a:avLst/>
          </a:prstGeom>
          <a:noFill/>
          <a:ln/>
        </p:spPr>
        <p:txBody>
          <a:bodyPr wrap="square" lIns="0" tIns="0" rIns="0" bIns="0" rtlCol="0" anchor="t"/>
          <a:lstStyle/>
          <a:p>
            <a:pPr indent="0" marL="0">
              <a:buNone/>
            </a:pPr>
            <a:r>
              <a:rPr lang="en-US" sz="3000" b="1" dirty="0">
                <a:solidFill>
                  <a:schemeClr val="bg1"/>
                </a:solidFill>
              </a:rPr>
              <a:t>Our customers' trusted, go-to partner for uptime, downtime and energy efficiency</a:t>
            </a:r>
            <a:endParaRPr lang="en-US" sz="3000" dirty="0"/>
          </a:p>
        </p:txBody>
      </p:sp>
      <p:sp>
        <p:nvSpPr>
          <p:cNvPr id="4" name="Text 2"/>
          <p:cNvSpPr txBox="1"/>
          <p:nvPr/>
        </p:nvSpPr>
        <p:spPr>
          <a:xfrm>
            <a:off x="548640" y="2606040"/>
            <a:ext cx="7680960" cy="1280160"/>
          </a:xfrm>
          <a:prstGeom prst="rect">
            <a:avLst/>
          </a:prstGeom>
          <a:noFill/>
          <a:ln/>
        </p:spPr>
        <p:txBody>
          <a:bodyPr wrap="square" lIns="0" tIns="0" rIns="0" bIns="0" rtlCol="0" anchor="t"/>
          <a:lstStyle/>
          <a:p>
            <a:pPr indent="0" marL="0">
              <a:buNone/>
            </a:pPr>
            <a:r>
              <a:rPr lang="en-US" sz="1800" dirty="0">
                <a:solidFill>
                  <a:srgbClr val="BFD3C6"/>
                </a:solidFill>
              </a:rPr>
              <a:t>We defend the core (EcoCare and EcoFit across our installed base) and, building on it, become known as one of the best digital service providers, combining maintenance, advisory and AI-driven predictions.</a:t>
            </a:r>
            <a:endParaRPr lang="en-US" sz="18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D3A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STRATEGY</a:t>
            </a:r>
            <a:endParaRPr lang="en-US" sz="1100" dirty="0"/>
          </a:p>
        </p:txBody>
      </p:sp>
      <p:sp>
        <p:nvSpPr>
          <p:cNvPr id="3" name="Title"/>
          <p:cNvSpPr txBox="1"/>
          <p:nvPr/>
        </p:nvSpPr>
        <p:spPr>
          <a:xfrm>
            <a:off x="548640" y="685800"/>
            <a:ext cx="8046720" cy="685800"/>
          </a:xfrm>
          <a:prstGeom prst="rect">
            <a:avLst/>
          </a:prstGeom>
          <a:noFill/>
          <a:ln/>
        </p:spPr>
        <p:txBody>
          <a:bodyPr wrap="square" lIns="0" tIns="0" rIns="0" bIns="0" rtlCol="0" anchor="t"/>
          <a:lstStyle/>
          <a:p>
            <a:pPr indent="0" marL="0">
              <a:buNone/>
            </a:pPr>
            <a:r>
              <a:rPr lang="en-US" sz="2800" b="1" dirty="0">
                <a:solidFill>
                  <a:schemeClr val="tx1"/>
                </a:solidFill>
                <a:latin typeface="Calibri" pitchFamily="34" charset="0"/>
                <a:ea typeface="Calibri" pitchFamily="34" charset="-122"/>
                <a:cs typeface="Calibri" pitchFamily="34" charset="-120"/>
              </a:rPr>
              <a:t>Where we play and how we win</a:t>
            </a:r>
            <a:endParaRPr lang="en-US" sz="2800" dirty="0"/>
          </a:p>
        </p:txBody>
      </p:sp>
      <p:sp>
        <p:nvSpPr>
          <p:cNvPr id="4" name="Card"/>
          <p:cNvSpPr/>
          <p:nvPr/>
        </p:nvSpPr>
        <p:spPr>
          <a:xfrm>
            <a:off x="548640" y="1554480"/>
            <a:ext cx="3931920" cy="2926080"/>
          </a:xfrm>
          <a:prstGeom prst="roundRect">
            <a:avLst>
              <a:gd name="adj" fmla="val 2500"/>
            </a:avLst>
          </a:prstGeom>
          <a:solidFill>
            <a:schemeClr val="bg1"/>
          </a:solidFill>
          <a:ln w="9525">
            <a:solidFill>
              <a:schemeClr val="accent6"/>
            </a:solidFill>
            <a:prstDash val="solid"/>
          </a:ln>
        </p:spPr>
      </p:sp>
      <p:sp>
        <p:nvSpPr>
          <p:cNvPr id="5" name="Text 3"/>
          <p:cNvSpPr txBox="1"/>
          <p:nvPr/>
        </p:nvSpPr>
        <p:spPr>
          <a:xfrm>
            <a:off x="822960" y="1737360"/>
            <a:ext cx="3383280" cy="365760"/>
          </a:xfrm>
          <a:prstGeom prst="rect">
            <a:avLst/>
          </a:prstGeom>
          <a:noFill/>
          <a:ln/>
        </p:spPr>
        <p:txBody>
          <a:bodyPr wrap="square" lIns="0" tIns="0" rIns="0" bIns="0" rtlCol="0" anchor="ctr"/>
          <a:lstStyle/>
          <a:p>
            <a:pPr indent="0" marL="0">
              <a:buNone/>
            </a:pPr>
            <a:r>
              <a:rPr lang="en-US" sz="1800" b="1" dirty="0">
                <a:solidFill>
                  <a:schemeClr val="accent1"/>
                </a:solidFill>
              </a:rPr>
              <a:t>Where to play</a:t>
            </a:r>
            <a:endParaRPr lang="en-US" sz="1800" dirty="0"/>
          </a:p>
        </p:txBody>
      </p:sp>
      <p:sp>
        <p:nvSpPr>
          <p:cNvPr id="6" name="Text 4"/>
          <p:cNvSpPr txBox="1"/>
          <p:nvPr/>
        </p:nvSpPr>
        <p:spPr>
          <a:xfrm>
            <a:off x="822960" y="2194560"/>
            <a:ext cx="338328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Critical-power customers first: data centers, healthcare, critical industry, large buildings</a:t>
            </a:r>
            <a:endParaRPr lang="en-US" sz="1400" dirty="0"/>
          </a:p>
          <a:p>
            <a:pPr marL="342900" indent="-342900">
              <a:spcAft>
                <a:spcPts val="600"/>
              </a:spcAft>
              <a:buSzPct val="100000"/>
              <a:buChar char="•"/>
            </a:pPr>
            <a:r>
              <a:rPr lang="en-US" sz="1400" dirty="0">
                <a:solidFill>
                  <a:schemeClr val="tx2"/>
                </a:solidFill>
              </a:rPr>
              <a:t>Our own installed base, starting with EcoCare sites</a:t>
            </a:r>
            <a:endParaRPr lang="en-US" sz="1400" dirty="0"/>
          </a:p>
          <a:p>
            <a:pPr marL="342900" indent="-342900">
              <a:spcAft>
                <a:spcPts val="600"/>
              </a:spcAft>
              <a:buSzPct val="100000"/>
              <a:buChar char="•"/>
            </a:pPr>
            <a:r>
              <a:rPr lang="en-US" sz="1400" dirty="0">
                <a:solidFill>
                  <a:schemeClr val="tx2"/>
                </a:solidFill>
              </a:rPr>
              <a:t>Digital Services attached to EcoCare; EcoFit triggered by asset data</a:t>
            </a:r>
            <a:endParaRPr lang="en-US" sz="1400" dirty="0"/>
          </a:p>
          <a:p>
            <a:pPr marL="342900" indent="-342900">
              <a:spcAft>
                <a:spcPts val="600"/>
              </a:spcAft>
              <a:buSzPct val="100000"/>
              <a:buChar char="•"/>
            </a:pPr>
            <a:r>
              <a:rPr lang="en-US" sz="1400" dirty="0">
                <a:solidFill>
                  <a:schemeClr val="tx2"/>
                </a:solidFill>
              </a:rPr>
              <a:t>Direct for key accounts, partners for the mid-market</a:t>
            </a:r>
            <a:endParaRPr lang="en-US" sz="1400" dirty="0"/>
          </a:p>
        </p:txBody>
      </p:sp>
      <p:sp>
        <p:nvSpPr>
          <p:cNvPr id="7" name="Card"/>
          <p:cNvSpPr/>
          <p:nvPr/>
        </p:nvSpPr>
        <p:spPr>
          <a:xfrm>
            <a:off x="4663440" y="1554480"/>
            <a:ext cx="3931920" cy="2926080"/>
          </a:xfrm>
          <a:prstGeom prst="roundRect">
            <a:avLst>
              <a:gd name="adj" fmla="val 2500"/>
            </a:avLst>
          </a:prstGeom>
          <a:solidFill>
            <a:schemeClr val="bg1"/>
          </a:solidFill>
          <a:ln w="9525">
            <a:solidFill>
              <a:schemeClr val="accent6"/>
            </a:solidFill>
            <a:prstDash val="solid"/>
          </a:ln>
        </p:spPr>
      </p:sp>
      <p:sp>
        <p:nvSpPr>
          <p:cNvPr id="8" name="Text 6"/>
          <p:cNvSpPr txBox="1"/>
          <p:nvPr/>
        </p:nvSpPr>
        <p:spPr>
          <a:xfrm>
            <a:off x="4937760" y="1737360"/>
            <a:ext cx="3383280" cy="365760"/>
          </a:xfrm>
          <a:prstGeom prst="rect">
            <a:avLst/>
          </a:prstGeom>
          <a:noFill/>
          <a:ln/>
        </p:spPr>
        <p:txBody>
          <a:bodyPr wrap="square" lIns="0" tIns="0" rIns="0" bIns="0" rtlCol="0" anchor="ctr"/>
          <a:lstStyle/>
          <a:p>
            <a:pPr indent="0" marL="0">
              <a:buNone/>
            </a:pPr>
            <a:r>
              <a:rPr lang="en-US" sz="1800" b="1" dirty="0">
                <a:solidFill>
                  <a:schemeClr val="accent1"/>
                </a:solidFill>
              </a:rPr>
              <a:t>How to win</a:t>
            </a:r>
            <a:endParaRPr lang="en-US" sz="1800" dirty="0"/>
          </a:p>
        </p:txBody>
      </p:sp>
      <p:sp>
        <p:nvSpPr>
          <p:cNvPr id="9" name="Text 7"/>
          <p:cNvSpPr txBox="1"/>
          <p:nvPr/>
        </p:nvSpPr>
        <p:spPr>
          <a:xfrm>
            <a:off x="4937760" y="2194560"/>
            <a:ext cx="338328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OEM knowledge plus live asset data</a:t>
            </a:r>
            <a:endParaRPr lang="en-US" sz="1400" dirty="0"/>
          </a:p>
          <a:p>
            <a:pPr marL="342900" indent="-342900">
              <a:spcAft>
                <a:spcPts val="600"/>
              </a:spcAft>
              <a:buSzPct val="100000"/>
              <a:buChar char="•"/>
            </a:pPr>
            <a:r>
              <a:rPr lang="en-US" sz="1400" dirty="0">
                <a:solidFill>
                  <a:schemeClr val="tx2"/>
                </a:solidFill>
              </a:rPr>
              <a:t>Predict failures and prove uptime and energy outcomes</a:t>
            </a:r>
            <a:endParaRPr lang="en-US" sz="1400" dirty="0"/>
          </a:p>
          <a:p>
            <a:pPr marL="342900" indent="-342900">
              <a:spcAft>
                <a:spcPts val="600"/>
              </a:spcAft>
              <a:buSzPct val="100000"/>
              <a:buChar char="•"/>
            </a:pPr>
            <a:r>
              <a:rPr lang="en-US" sz="1400" dirty="0">
                <a:solidFill>
                  <a:schemeClr val="tx2"/>
                </a:solidFill>
              </a:rPr>
              <a:t>Independents can match our price, not our data and OEM depth</a:t>
            </a:r>
            <a:endParaRPr lang="en-US" sz="1400" dirty="0"/>
          </a:p>
          <a:p>
            <a:pPr marL="342900" indent="-342900">
              <a:spcAft>
                <a:spcPts val="600"/>
              </a:spcAft>
              <a:buSzPct val="100000"/>
              <a:buChar char="•"/>
            </a:pPr>
            <a:r>
              <a:rPr lang="en-US" sz="1400" dirty="0">
                <a:solidFill>
                  <a:schemeClr val="tx2"/>
                </a:solidFill>
              </a:rPr>
              <a:t>Software players have data, but no field force or spare parts</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56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STRATEGY</a:t>
            </a:r>
            <a:endParaRPr lang="en-US" sz="1100" dirty="0"/>
          </a:p>
        </p:txBody>
      </p:sp>
      <p:sp>
        <p:nvSpPr>
          <p:cNvPr id="3" name="Title"/>
          <p:cNvSpPr txBox="1"/>
          <p:nvPr/>
        </p:nvSpPr>
        <p:spPr>
          <a:xfrm>
            <a:off x="548640" y="685800"/>
            <a:ext cx="8046720" cy="685800"/>
          </a:xfrm>
          <a:prstGeom prst="rect">
            <a:avLst/>
          </a:prstGeom>
          <a:noFill/>
          <a:ln/>
        </p:spPr>
        <p:txBody>
          <a:bodyPr wrap="square" lIns="0" tIns="0" rIns="0" bIns="0" rtlCol="0" anchor="t"/>
          <a:lstStyle/>
          <a:p>
            <a:pPr indent="0" marL="0">
              <a:buNone/>
            </a:pPr>
            <a:r>
              <a:rPr lang="en-US" sz="2800" b="1" dirty="0">
                <a:solidFill>
                  <a:schemeClr val="tx1"/>
                </a:solidFill>
                <a:latin typeface="Calibri" pitchFamily="34" charset="0"/>
                <a:ea typeface="Calibri" pitchFamily="34" charset="-122"/>
                <a:cs typeface="Calibri" pitchFamily="34" charset="-120"/>
              </a:rPr>
              <a:t>What we must be great at, and how we run it</a:t>
            </a:r>
            <a:endParaRPr lang="en-US" sz="2800" dirty="0"/>
          </a:p>
        </p:txBody>
      </p:sp>
      <p:sp>
        <p:nvSpPr>
          <p:cNvPr id="4" name="Card"/>
          <p:cNvSpPr/>
          <p:nvPr/>
        </p:nvSpPr>
        <p:spPr>
          <a:xfrm>
            <a:off x="548640" y="1554480"/>
            <a:ext cx="3931920" cy="2926080"/>
          </a:xfrm>
          <a:prstGeom prst="roundRect">
            <a:avLst>
              <a:gd name="adj" fmla="val 2500"/>
            </a:avLst>
          </a:prstGeom>
          <a:solidFill>
            <a:schemeClr val="bg1"/>
          </a:solidFill>
          <a:ln w="9525">
            <a:solidFill>
              <a:schemeClr val="accent6"/>
            </a:solidFill>
            <a:prstDash val="solid"/>
          </a:ln>
        </p:spPr>
      </p:sp>
      <p:sp>
        <p:nvSpPr>
          <p:cNvPr id="5" name="Text 3"/>
          <p:cNvSpPr txBox="1"/>
          <p:nvPr/>
        </p:nvSpPr>
        <p:spPr>
          <a:xfrm>
            <a:off x="822960" y="1737360"/>
            <a:ext cx="3383280" cy="365760"/>
          </a:xfrm>
          <a:prstGeom prst="rect">
            <a:avLst/>
          </a:prstGeom>
          <a:noFill/>
          <a:ln/>
        </p:spPr>
        <p:txBody>
          <a:bodyPr wrap="square" lIns="0" tIns="0" rIns="0" bIns="0" rtlCol="0" anchor="ctr"/>
          <a:lstStyle/>
          <a:p>
            <a:pPr indent="0" marL="0">
              <a:buNone/>
            </a:pPr>
            <a:r>
              <a:rPr lang="en-US" sz="1800" b="1" dirty="0">
                <a:solidFill>
                  <a:schemeClr val="accent1"/>
                </a:solidFill>
              </a:rPr>
              <a:t>Capabilities</a:t>
            </a:r>
            <a:endParaRPr lang="en-US" sz="1800" dirty="0"/>
          </a:p>
        </p:txBody>
      </p:sp>
      <p:sp>
        <p:nvSpPr>
          <p:cNvPr id="6" name="Text 4"/>
          <p:cNvSpPr txBox="1"/>
          <p:nvPr/>
        </p:nvSpPr>
        <p:spPr>
          <a:xfrm>
            <a:off x="822960" y="2194560"/>
            <a:ext cx="338328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Build: connected-asset onboarding at scale, predictive analytics, remote service centers, outcome-based selling</a:t>
            </a:r>
            <a:endParaRPr lang="en-US" sz="1400" dirty="0"/>
          </a:p>
          <a:p>
            <a:pPr marL="342900" indent="-342900">
              <a:spcAft>
                <a:spcPts val="600"/>
              </a:spcAft>
              <a:buSzPct val="100000"/>
              <a:buChar char="•"/>
            </a:pPr>
            <a:r>
              <a:rPr lang="en-US" sz="1400" dirty="0">
                <a:solidFill>
                  <a:schemeClr val="tx2"/>
                </a:solidFill>
              </a:rPr>
              <a:t>Partner: cloud and AI platforms, OT cybersecurity</a:t>
            </a:r>
            <a:endParaRPr lang="en-US" sz="1400" dirty="0"/>
          </a:p>
          <a:p>
            <a:pPr marL="342900" indent="-342900">
              <a:spcAft>
                <a:spcPts val="600"/>
              </a:spcAft>
              <a:buSzPct val="100000"/>
              <a:buChar char="•"/>
            </a:pPr>
            <a:r>
              <a:rPr lang="en-US" sz="1400" dirty="0">
                <a:solidFill>
                  <a:schemeClr val="tx2"/>
                </a:solidFill>
              </a:rPr>
              <a:t>Reskill: field engineers move to data-driven interventions, so we grow without adding headcount</a:t>
            </a:r>
            <a:endParaRPr lang="en-US" sz="1400" dirty="0"/>
          </a:p>
        </p:txBody>
      </p:sp>
      <p:sp>
        <p:nvSpPr>
          <p:cNvPr id="7" name="Card"/>
          <p:cNvSpPr/>
          <p:nvPr/>
        </p:nvSpPr>
        <p:spPr>
          <a:xfrm>
            <a:off x="4663440" y="1554480"/>
            <a:ext cx="3931920" cy="2926080"/>
          </a:xfrm>
          <a:prstGeom prst="roundRect">
            <a:avLst>
              <a:gd name="adj" fmla="val 2500"/>
            </a:avLst>
          </a:prstGeom>
          <a:solidFill>
            <a:schemeClr val="bg1"/>
          </a:solidFill>
          <a:ln w="9525">
            <a:solidFill>
              <a:schemeClr val="accent6"/>
            </a:solidFill>
            <a:prstDash val="solid"/>
          </a:ln>
        </p:spPr>
      </p:sp>
      <p:sp>
        <p:nvSpPr>
          <p:cNvPr id="8" name="Text 6"/>
          <p:cNvSpPr txBox="1"/>
          <p:nvPr/>
        </p:nvSpPr>
        <p:spPr>
          <a:xfrm>
            <a:off x="4937760" y="1737360"/>
            <a:ext cx="3383280" cy="365760"/>
          </a:xfrm>
          <a:prstGeom prst="rect">
            <a:avLst/>
          </a:prstGeom>
          <a:noFill/>
          <a:ln/>
        </p:spPr>
        <p:txBody>
          <a:bodyPr wrap="square" lIns="0" tIns="0" rIns="0" bIns="0" rtlCol="0" anchor="ctr"/>
          <a:lstStyle/>
          <a:p>
            <a:pPr indent="0" marL="0">
              <a:buNone/>
            </a:pPr>
            <a:r>
              <a:rPr lang="en-US" sz="1800" b="1" dirty="0">
                <a:solidFill>
                  <a:schemeClr val="accent1"/>
                </a:solidFill>
              </a:rPr>
              <a:t>Management system</a:t>
            </a:r>
            <a:endParaRPr lang="en-US" sz="1800" dirty="0"/>
          </a:p>
        </p:txBody>
      </p:sp>
      <p:sp>
        <p:nvSpPr>
          <p:cNvPr id="9" name="Text 7"/>
          <p:cNvSpPr txBox="1"/>
          <p:nvPr/>
        </p:nvSpPr>
        <p:spPr>
          <a:xfrm>
            <a:off x="4937760" y="2194560"/>
            <a:ext cx="3383280" cy="2148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2"/>
                </a:solidFill>
              </a:rPr>
              <a:t>Monthly review of connected assets, digital attach rate and recurring revenue</a:t>
            </a:r>
            <a:endParaRPr lang="en-US" sz="1400" dirty="0"/>
          </a:p>
          <a:p>
            <a:pPr marL="342900" indent="-342900">
              <a:spcAft>
                <a:spcPts val="600"/>
              </a:spcAft>
              <a:buSzPct val="100000"/>
              <a:buChar char="•"/>
            </a:pPr>
            <a:r>
              <a:rPr lang="en-US" sz="1400" dirty="0">
                <a:solidFill>
                  <a:schemeClr val="tx2"/>
                </a:solidFill>
              </a:rPr>
              <a:t>Sales incentives weighted to connected, multi-year contracts</a:t>
            </a:r>
            <a:endParaRPr lang="en-US" sz="1400" dirty="0"/>
          </a:p>
          <a:p>
            <a:pPr marL="342900" indent="-342900">
              <a:spcAft>
                <a:spcPts val="600"/>
              </a:spcAft>
              <a:buSzPct val="100000"/>
              <a:buChar char="•"/>
            </a:pPr>
            <a:r>
              <a:rPr lang="en-US" sz="1400" dirty="0">
                <a:solidFill>
                  <a:schemeClr val="tx2"/>
                </a:solidFill>
              </a:rPr>
              <a:t>EcoFit pipeline must cite asset-health data</a:t>
            </a:r>
            <a:endParaRPr lang="en-US" sz="1400" dirty="0"/>
          </a:p>
          <a:p>
            <a:pPr marL="342900" indent="-342900">
              <a:spcAft>
                <a:spcPts val="600"/>
              </a:spcAft>
              <a:buSzPct val="100000"/>
              <a:buChar char="•"/>
            </a:pPr>
            <a:r>
              <a:rPr lang="en-US" sz="1400" dirty="0">
                <a:solidFill>
                  <a:schemeClr val="tx2"/>
                </a:solidFill>
              </a:rPr>
              <a:t>Field KPIs shift to remote resolution and first-time fix</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56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822960"/>
            <a:ext cx="7315200" cy="274320"/>
          </a:xfrm>
          <a:prstGeom prst="rect">
            <a:avLst/>
          </a:prstGeom>
          <a:noFill/>
          <a:ln/>
        </p:spPr>
        <p:txBody>
          <a:bodyPr wrap="square" lIns="0" tIns="0" rIns="0" bIns="0" rtlCol="0" anchor="ctr"/>
          <a:lstStyle/>
          <a:p>
            <a:pPr indent="0" marL="0">
              <a:buNone/>
            </a:pPr>
            <a:r>
              <a:rPr lang="en-US" sz="1200" b="1" spc="200" kern="0" dirty="0">
                <a:solidFill>
                  <a:srgbClr val="D5EEDD"/>
                </a:solidFill>
              </a:rPr>
              <a:t>OUR ONE HARD NO</a:t>
            </a:r>
            <a:endParaRPr lang="en-US" sz="1200" dirty="0"/>
          </a:p>
        </p:txBody>
      </p:sp>
      <p:sp>
        <p:nvSpPr>
          <p:cNvPr id="3" name="Text 1"/>
          <p:cNvSpPr txBox="1"/>
          <p:nvPr/>
        </p:nvSpPr>
        <p:spPr>
          <a:xfrm>
            <a:off x="548640" y="1188720"/>
            <a:ext cx="7863840" cy="1005840"/>
          </a:xfrm>
          <a:prstGeom prst="rect">
            <a:avLst/>
          </a:prstGeom>
          <a:noFill/>
          <a:ln/>
        </p:spPr>
        <p:txBody>
          <a:bodyPr wrap="square" lIns="0" tIns="0" rIns="0" bIns="0" rtlCol="0" anchor="t"/>
          <a:lstStyle/>
          <a:p>
            <a:pPr indent="0" marL="0">
              <a:buNone/>
            </a:pPr>
            <a:r>
              <a:rPr lang="en-US" sz="3000" b="1" dirty="0">
                <a:solidFill>
                  <a:schemeClr val="bg1"/>
                </a:solidFill>
              </a:rPr>
              <a:t>We will not compete on price for routine, time-based maintenance</a:t>
            </a:r>
            <a:endParaRPr lang="en-US" sz="3000" dirty="0"/>
          </a:p>
        </p:txBody>
      </p:sp>
      <p:sp>
        <p:nvSpPr>
          <p:cNvPr id="4" name="Text 2"/>
          <p:cNvSpPr txBox="1"/>
          <p:nvPr/>
        </p:nvSpPr>
        <p:spPr>
          <a:xfrm>
            <a:off x="548640" y="2331720"/>
            <a:ext cx="7680960" cy="914400"/>
          </a:xfrm>
          <a:prstGeom prst="rect">
            <a:avLst/>
          </a:prstGeom>
          <a:noFill/>
          <a:ln/>
        </p:spPr>
        <p:txBody>
          <a:bodyPr wrap="square" lIns="0" tIns="0" rIns="0" bIns="0" rtlCol="0" anchor="t"/>
          <a:lstStyle/>
          <a:p>
            <a:pPr indent="0" marL="0">
              <a:buNone/>
            </a:pPr>
            <a:r>
              <a:rPr lang="en-US" sz="1800" dirty="0">
                <a:solidFill>
                  <a:srgbClr val="E6F3EA"/>
                </a:solidFill>
              </a:rPr>
              <a:t>Winning that fight would cut the margin and field capacity that fund Digital Services. Customers who only want the cheapest visit get a connected EcoCare offer, or we let them go.</a:t>
            </a:r>
            <a:endParaRPr lang="en-US" sz="1800" dirty="0"/>
          </a:p>
        </p:txBody>
      </p:sp>
      <p:sp>
        <p:nvSpPr>
          <p:cNvPr id="5" name="Text 3"/>
          <p:cNvSpPr txBox="1"/>
          <p:nvPr/>
        </p:nvSpPr>
        <p:spPr>
          <a:xfrm>
            <a:off x="548640" y="3520440"/>
            <a:ext cx="7680960" cy="640080"/>
          </a:xfrm>
          <a:prstGeom prst="rect">
            <a:avLst/>
          </a:prstGeom>
          <a:noFill/>
          <a:ln/>
        </p:spPr>
        <p:txBody>
          <a:bodyPr wrap="square" lIns="0" tIns="0" rIns="0" bIns="0" rtlCol="0" anchor="t"/>
          <a:lstStyle/>
          <a:p>
            <a:pPr indent="0" marL="0">
              <a:buNone/>
            </a:pPr>
            <a:r>
              <a:rPr lang="en-US" sz="1400" i="1" dirty="0">
                <a:solidFill>
                  <a:srgbClr val="E6F3EA"/>
                </a:solidFill>
              </a:rPr>
              <a:t>Data centers and AI: pursued through Digital Services, partnerships and greenfield projects, not a new consulting practice.</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5EEDD"/>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OBJECTIVE · THREE YEARS</a:t>
            </a:r>
            <a:endParaRPr lang="en-US" sz="1100" dirty="0"/>
          </a:p>
        </p:txBody>
      </p:sp>
      <p:sp>
        <p:nvSpPr>
          <p:cNvPr id="3" name="Text 1"/>
          <p:cNvSpPr txBox="1"/>
          <p:nvPr/>
        </p:nvSpPr>
        <p:spPr>
          <a:xfrm>
            <a:off x="548640" y="731520"/>
            <a:ext cx="8046720" cy="914400"/>
          </a:xfrm>
          <a:prstGeom prst="rect">
            <a:avLst/>
          </a:prstGeom>
          <a:noFill/>
          <a:ln/>
        </p:spPr>
        <p:txBody>
          <a:bodyPr wrap="square" lIns="0" tIns="0" rIns="0" bIns="0" rtlCol="0" anchor="t"/>
          <a:lstStyle/>
          <a:p>
            <a:pPr indent="0" marL="0">
              <a:buNone/>
            </a:pPr>
            <a:r>
              <a:rPr lang="en-US" sz="1700" b="1" dirty="0">
                <a:solidFill>
                  <a:schemeClr val="tx1"/>
                </a:solidFill>
              </a:rPr>
              <a:t>Become our customers' go-to digital service provider and most trusted partner, making a name in the new energy landscape for data centers and AI, while our core pillars, led by EcoCare, remain the foundation for growth.</a:t>
            </a:r>
            <a:endParaRPr lang="en-US" sz="1700" dirty="0"/>
          </a:p>
        </p:txBody>
      </p:sp>
      <p:sp>
        <p:nvSpPr>
          <p:cNvPr id="4" name="Card"/>
          <p:cNvSpPr/>
          <p:nvPr/>
        </p:nvSpPr>
        <p:spPr>
          <a:xfrm>
            <a:off x="548640" y="1828800"/>
            <a:ext cx="2532888" cy="2606040"/>
          </a:xfrm>
          <a:prstGeom prst="roundRect">
            <a:avLst>
              <a:gd name="adj" fmla="val 2888"/>
            </a:avLst>
          </a:prstGeom>
          <a:solidFill>
            <a:schemeClr val="bg1"/>
          </a:solidFill>
          <a:ln w="9525">
            <a:solidFill>
              <a:schemeClr val="accent6"/>
            </a:solidFill>
            <a:prstDash val="solid"/>
          </a:ln>
        </p:spPr>
      </p:sp>
      <p:sp>
        <p:nvSpPr>
          <p:cNvPr id="5" name="Text 3"/>
          <p:cNvSpPr txBox="1"/>
          <p:nvPr/>
        </p:nvSpPr>
        <p:spPr>
          <a:xfrm>
            <a:off x="777240" y="2011680"/>
            <a:ext cx="2075688"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KR1 · DIGITAL</a:t>
            </a:r>
            <a:endParaRPr lang="en-US" sz="1100" dirty="0"/>
          </a:p>
        </p:txBody>
      </p:sp>
      <p:sp>
        <p:nvSpPr>
          <p:cNvPr id="6" name="Text 4"/>
          <p:cNvSpPr txBox="1"/>
          <p:nvPr/>
        </p:nvSpPr>
        <p:spPr>
          <a:xfrm>
            <a:off x="777240" y="2331720"/>
            <a:ext cx="2075688" cy="640080"/>
          </a:xfrm>
          <a:prstGeom prst="rect">
            <a:avLst/>
          </a:prstGeom>
          <a:noFill/>
          <a:ln/>
        </p:spPr>
        <p:txBody>
          <a:bodyPr wrap="square" lIns="0" tIns="0" rIns="0" bIns="0" rtlCol="0" anchor="ctr"/>
          <a:lstStyle/>
          <a:p>
            <a:pPr indent="0" marL="0">
              <a:buNone/>
            </a:pPr>
            <a:r>
              <a:rPr lang="en-US" sz="3200" b="1" dirty="0">
                <a:solidFill>
                  <a:schemeClr val="accent1"/>
                </a:solidFill>
              </a:rPr>
              <a:t>13.68M</a:t>
            </a:r>
            <a:endParaRPr lang="en-US" sz="3200" dirty="0"/>
          </a:p>
        </p:txBody>
      </p:sp>
      <p:sp>
        <p:nvSpPr>
          <p:cNvPr id="7" name="Text 5"/>
          <p:cNvSpPr txBox="1"/>
          <p:nvPr/>
        </p:nvSpPr>
        <p:spPr>
          <a:xfrm>
            <a:off x="777240" y="3063240"/>
            <a:ext cx="2075688" cy="1234440"/>
          </a:xfrm>
          <a:prstGeom prst="rect">
            <a:avLst/>
          </a:prstGeom>
          <a:noFill/>
          <a:ln/>
        </p:spPr>
        <p:txBody>
          <a:bodyPr wrap="square" lIns="0" tIns="0" rIns="0" bIns="0" rtlCol="0" anchor="t"/>
          <a:lstStyle/>
          <a:p>
            <a:pPr indent="0" marL="0">
              <a:buNone/>
            </a:pPr>
            <a:r>
              <a:rPr lang="en-US" sz="1300" dirty="0">
                <a:solidFill>
                  <a:schemeClr val="tx2"/>
                </a:solidFill>
              </a:rPr>
              <a:t>Digital Services revenue by Year 3 (10M base, 11% CAGR), led by digital twin and AR</a:t>
            </a:r>
            <a:endParaRPr lang="en-US" sz="1300" dirty="0"/>
          </a:p>
        </p:txBody>
      </p:sp>
      <p:sp>
        <p:nvSpPr>
          <p:cNvPr id="8" name="Card"/>
          <p:cNvSpPr/>
          <p:nvPr/>
        </p:nvSpPr>
        <p:spPr>
          <a:xfrm>
            <a:off x="3264408" y="1828800"/>
            <a:ext cx="2532888" cy="2606040"/>
          </a:xfrm>
          <a:prstGeom prst="roundRect">
            <a:avLst>
              <a:gd name="adj" fmla="val 2888"/>
            </a:avLst>
          </a:prstGeom>
          <a:solidFill>
            <a:schemeClr val="bg1"/>
          </a:solidFill>
          <a:ln w="9525">
            <a:solidFill>
              <a:schemeClr val="accent6"/>
            </a:solidFill>
            <a:prstDash val="solid"/>
          </a:ln>
        </p:spPr>
      </p:sp>
      <p:sp>
        <p:nvSpPr>
          <p:cNvPr id="9" name="Text 7"/>
          <p:cNvSpPr txBox="1"/>
          <p:nvPr/>
        </p:nvSpPr>
        <p:spPr>
          <a:xfrm>
            <a:off x="3493008" y="2011680"/>
            <a:ext cx="2075688"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KR2 · DATA CENTER &amp; AI</a:t>
            </a:r>
            <a:endParaRPr lang="en-US" sz="1100" dirty="0"/>
          </a:p>
        </p:txBody>
      </p:sp>
      <p:sp>
        <p:nvSpPr>
          <p:cNvPr id="10" name="Text 8"/>
          <p:cNvSpPr txBox="1"/>
          <p:nvPr/>
        </p:nvSpPr>
        <p:spPr>
          <a:xfrm>
            <a:off x="3493008" y="2331720"/>
            <a:ext cx="2075688" cy="640080"/>
          </a:xfrm>
          <a:prstGeom prst="rect">
            <a:avLst/>
          </a:prstGeom>
          <a:noFill/>
          <a:ln/>
        </p:spPr>
        <p:txBody>
          <a:bodyPr wrap="square" lIns="0" tIns="0" rIns="0" bIns="0" rtlCol="0" anchor="ctr"/>
          <a:lstStyle/>
          <a:p>
            <a:pPr indent="0" marL="0">
              <a:buNone/>
            </a:pPr>
            <a:r>
              <a:rPr lang="en-US" sz="3200" b="1" dirty="0">
                <a:solidFill>
                  <a:schemeClr val="accent1"/>
                </a:solidFill>
              </a:rPr>
              <a:t>5M+</a:t>
            </a:r>
            <a:endParaRPr lang="en-US" sz="3200" dirty="0"/>
          </a:p>
        </p:txBody>
      </p:sp>
      <p:sp>
        <p:nvSpPr>
          <p:cNvPr id="11" name="Text 9"/>
          <p:cNvSpPr txBox="1"/>
          <p:nvPr/>
        </p:nvSpPr>
        <p:spPr>
          <a:xfrm>
            <a:off x="3493008" y="3063240"/>
            <a:ext cx="2075688" cy="1234440"/>
          </a:xfrm>
          <a:prstGeom prst="rect">
            <a:avLst/>
          </a:prstGeom>
          <a:noFill/>
          <a:ln/>
        </p:spPr>
        <p:txBody>
          <a:bodyPr wrap="square" lIns="0" tIns="0" rIns="0" bIns="0" rtlCol="0" anchor="t"/>
          <a:lstStyle/>
          <a:p>
            <a:pPr indent="0" marL="0">
              <a:buNone/>
            </a:pPr>
            <a:r>
              <a:rPr lang="en-US" sz="1300" dirty="0">
                <a:solidFill>
                  <a:schemeClr val="tx2"/>
                </a:solidFill>
              </a:rPr>
              <a:t>Incremental revenue from new partnerships or greenfield projects by Year 3</a:t>
            </a:r>
            <a:endParaRPr lang="en-US" sz="1300" dirty="0"/>
          </a:p>
        </p:txBody>
      </p:sp>
      <p:sp>
        <p:nvSpPr>
          <p:cNvPr id="12" name="Card"/>
          <p:cNvSpPr/>
          <p:nvPr/>
        </p:nvSpPr>
        <p:spPr>
          <a:xfrm>
            <a:off x="5980176" y="1828800"/>
            <a:ext cx="2532888" cy="2606040"/>
          </a:xfrm>
          <a:prstGeom prst="roundRect">
            <a:avLst>
              <a:gd name="adj" fmla="val 2888"/>
            </a:avLst>
          </a:prstGeom>
          <a:solidFill>
            <a:schemeClr val="bg1"/>
          </a:solidFill>
          <a:ln w="9525">
            <a:solidFill>
              <a:schemeClr val="accent6"/>
            </a:solidFill>
            <a:prstDash val="solid"/>
          </a:ln>
        </p:spPr>
      </p:sp>
      <p:sp>
        <p:nvSpPr>
          <p:cNvPr id="13" name="Text 11"/>
          <p:cNvSpPr txBox="1"/>
          <p:nvPr/>
        </p:nvSpPr>
        <p:spPr>
          <a:xfrm>
            <a:off x="6208776" y="2011680"/>
            <a:ext cx="2075688"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KR3 · CORE</a:t>
            </a:r>
            <a:endParaRPr lang="en-US" sz="1100" dirty="0"/>
          </a:p>
        </p:txBody>
      </p:sp>
      <p:sp>
        <p:nvSpPr>
          <p:cNvPr id="14" name="Text 12"/>
          <p:cNvSpPr txBox="1"/>
          <p:nvPr/>
        </p:nvSpPr>
        <p:spPr>
          <a:xfrm>
            <a:off x="6208776" y="2331720"/>
            <a:ext cx="2075688" cy="640080"/>
          </a:xfrm>
          <a:prstGeom prst="rect">
            <a:avLst/>
          </a:prstGeom>
          <a:noFill/>
          <a:ln/>
        </p:spPr>
        <p:txBody>
          <a:bodyPr wrap="square" lIns="0" tIns="0" rIns="0" bIns="0" rtlCol="0" anchor="ctr"/>
          <a:lstStyle/>
          <a:p>
            <a:pPr indent="0" marL="0">
              <a:buNone/>
            </a:pPr>
            <a:r>
              <a:rPr lang="en-US" sz="3200" b="1" dirty="0">
                <a:solidFill>
                  <a:schemeClr val="accent1"/>
                </a:solidFill>
              </a:rPr>
              <a:t>+3% / +5%</a:t>
            </a:r>
            <a:endParaRPr lang="en-US" sz="3200" dirty="0"/>
          </a:p>
        </p:txBody>
      </p:sp>
      <p:sp>
        <p:nvSpPr>
          <p:cNvPr id="15" name="Text 13"/>
          <p:cNvSpPr txBox="1"/>
          <p:nvPr/>
        </p:nvSpPr>
        <p:spPr>
          <a:xfrm>
            <a:off x="6208776" y="3063240"/>
            <a:ext cx="2075688" cy="1234440"/>
          </a:xfrm>
          <a:prstGeom prst="rect">
            <a:avLst/>
          </a:prstGeom>
          <a:noFill/>
          <a:ln/>
        </p:spPr>
        <p:txBody>
          <a:bodyPr wrap="square" lIns="0" tIns="0" rIns="0" bIns="0" rtlCol="0" anchor="t"/>
          <a:lstStyle/>
          <a:p>
            <a:pPr indent="0" marL="0">
              <a:buNone/>
            </a:pPr>
            <a:r>
              <a:rPr lang="en-US" sz="1300" dirty="0">
                <a:solidFill>
                  <a:schemeClr val="tx2"/>
                </a:solidFill>
              </a:rPr>
              <a:t>Organic plus leveraged growth a year for EcoCare and EcoFit; satisfaction +10 points vs. [today's score]</a:t>
            </a:r>
            <a:endParaRPr lang="en-US" sz="13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56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KR1 · DIGITAL SERVICES REVENUE</a:t>
            </a:r>
            <a:endParaRPr lang="en-US" sz="1100" dirty="0"/>
          </a:p>
        </p:txBody>
      </p:sp>
      <p:sp>
        <p:nvSpPr>
          <p:cNvPr id="3" name="Title"/>
          <p:cNvSpPr txBox="1"/>
          <p:nvPr/>
        </p:nvSpPr>
        <p:spPr>
          <a:xfrm>
            <a:off x="548640" y="685800"/>
            <a:ext cx="8046720" cy="685800"/>
          </a:xfrm>
          <a:prstGeom prst="rect">
            <a:avLst/>
          </a:prstGeom>
          <a:noFill/>
          <a:ln/>
        </p:spPr>
        <p:txBody>
          <a:bodyPr wrap="square" lIns="0" tIns="0" rIns="0" bIns="0" rtlCol="0" anchor="t"/>
          <a:lstStyle/>
          <a:p>
            <a:pPr indent="0" marL="0">
              <a:buNone/>
            </a:pPr>
            <a:r>
              <a:rPr lang="en-US" sz="2800" b="1" dirty="0">
                <a:solidFill>
                  <a:schemeClr val="tx1"/>
                </a:solidFill>
                <a:latin typeface="Calibri" pitchFamily="34" charset="0"/>
                <a:ea typeface="Calibri" pitchFamily="34" charset="-122"/>
                <a:cs typeface="Calibri" pitchFamily="34" charset="-120"/>
              </a:rPr>
              <a:t>From 10M to 13.68M in three years at 11% a year</a:t>
            </a:r>
            <a:endParaRPr lang="en-US" sz="2800" dirty="0"/>
          </a:p>
        </p:txBody>
      </p:sp>
      <p:graphicFrame>
        <p:nvGraphicFramePr>
          <p:cNvPr id="4" name="KR1 revenue path" descr=""/>
          <p:cNvGraphicFramePr/>
          <p:nvPr/>
        </p:nvGraphicFramePr>
        <p:xfrm>
          <a:off x="548640" y="1508760"/>
          <a:ext cx="5120640" cy="30175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035040" y="1828800"/>
            <a:ext cx="2560320" cy="640080"/>
          </a:xfrm>
          <a:prstGeom prst="rect">
            <a:avLst/>
          </a:prstGeom>
          <a:noFill/>
          <a:ln/>
        </p:spPr>
        <p:txBody>
          <a:bodyPr wrap="square" lIns="0" tIns="0" rIns="0" bIns="0" rtlCol="0" anchor="ctr"/>
          <a:lstStyle/>
          <a:p>
            <a:pPr indent="0" marL="0">
              <a:buNone/>
            </a:pPr>
            <a:r>
              <a:rPr lang="en-US" sz="3600" b="1" dirty="0">
                <a:solidFill>
                  <a:schemeClr val="accent1"/>
                </a:solidFill>
              </a:rPr>
              <a:t>+3.68M</a:t>
            </a:r>
            <a:endParaRPr lang="en-US" sz="3600" dirty="0"/>
          </a:p>
        </p:txBody>
      </p:sp>
      <p:sp>
        <p:nvSpPr>
          <p:cNvPr id="6" name="Text 3"/>
          <p:cNvSpPr txBox="1"/>
          <p:nvPr/>
        </p:nvSpPr>
        <p:spPr>
          <a:xfrm>
            <a:off x="6035040" y="2560320"/>
            <a:ext cx="2560320" cy="640080"/>
          </a:xfrm>
          <a:prstGeom prst="rect">
            <a:avLst/>
          </a:prstGeom>
          <a:noFill/>
          <a:ln/>
        </p:spPr>
        <p:txBody>
          <a:bodyPr wrap="square" lIns="0" tIns="0" rIns="0" bIns="0" rtlCol="0" anchor="t"/>
          <a:lstStyle/>
          <a:p>
            <a:pPr indent="0" marL="0">
              <a:buNone/>
            </a:pPr>
            <a:r>
              <a:rPr lang="en-US" sz="1400" dirty="0">
                <a:solidFill>
                  <a:schemeClr val="tx2"/>
                </a:solidFill>
              </a:rPr>
              <a:t>+36.8% over three years</a:t>
            </a:r>
            <a:endParaRPr lang="en-US" sz="1400" dirty="0"/>
          </a:p>
          <a:p>
            <a:pPr indent="0" marL="0">
              <a:buNone/>
            </a:pPr>
            <a:r>
              <a:rPr lang="en-US" sz="1400" dirty="0">
                <a:solidFill>
                  <a:schemeClr val="tx2"/>
                </a:solidFill>
              </a:rPr>
              <a:t>Year 3 = 10M × 1.11³</a:t>
            </a:r>
            <a:endParaRPr lang="en-US" sz="1400" dirty="0"/>
          </a:p>
        </p:txBody>
      </p:sp>
      <p:sp>
        <p:nvSpPr>
          <p:cNvPr id="7" name="Text 4"/>
          <p:cNvSpPr txBox="1"/>
          <p:nvPr/>
        </p:nvSpPr>
        <p:spPr>
          <a:xfrm>
            <a:off x="6035040" y="3337560"/>
            <a:ext cx="2560320" cy="640080"/>
          </a:xfrm>
          <a:prstGeom prst="rect">
            <a:avLst/>
          </a:prstGeom>
          <a:noFill/>
          <a:ln/>
        </p:spPr>
        <p:txBody>
          <a:bodyPr wrap="square" lIns="0" tIns="0" rIns="0" bIns="0" rtlCol="0" anchor="t"/>
          <a:lstStyle/>
          <a:p>
            <a:pPr indent="0" marL="0">
              <a:buNone/>
            </a:pPr>
            <a:r>
              <a:rPr lang="en-US" sz="1400" dirty="0">
                <a:solidFill>
                  <a:schemeClr val="tx2"/>
                </a:solidFill>
              </a:rPr>
              <a:t>Led by digital twin and augmented reality offers</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56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OKRS</a:t>
            </a:r>
            <a:endParaRPr lang="en-US" sz="1100" dirty="0"/>
          </a:p>
        </p:txBody>
      </p:sp>
      <p:sp>
        <p:nvSpPr>
          <p:cNvPr id="3" name="Title"/>
          <p:cNvSpPr txBox="1"/>
          <p:nvPr/>
        </p:nvSpPr>
        <p:spPr>
          <a:xfrm>
            <a:off x="548640" y="685800"/>
            <a:ext cx="8046720" cy="685800"/>
          </a:xfrm>
          <a:prstGeom prst="rect">
            <a:avLst/>
          </a:prstGeom>
          <a:noFill/>
          <a:ln/>
        </p:spPr>
        <p:txBody>
          <a:bodyPr wrap="square" lIns="0" tIns="0" rIns="0" bIns="0" rtlCol="0" anchor="t"/>
          <a:lstStyle/>
          <a:p>
            <a:pPr indent="0" marL="0">
              <a:buNone/>
            </a:pPr>
            <a:r>
              <a:rPr lang="en-US" sz="2800" b="1" dirty="0">
                <a:solidFill>
                  <a:schemeClr val="tx1"/>
                </a:solidFill>
                <a:latin typeface="Calibri" pitchFamily="34" charset="0"/>
                <a:ea typeface="Calibri" pitchFamily="34" charset="-122"/>
                <a:cs typeface="Calibri" pitchFamily="34" charset="-120"/>
              </a:rPr>
              <a:t>How the OKRs cascade to teams</a:t>
            </a:r>
            <a:endParaRPr lang="en-US" sz="2800" dirty="0"/>
          </a:p>
        </p:txBody>
      </p:sp>
      <p:graphicFrame>
        <p:nvGraphicFramePr>
          <p:cNvPr id="13" name="Team cascade table"/>
          <p:cNvGraphicFramePr>
            <a:graphicFrameLocks noGrp="1"/>
          </p:cNvGraphicFramePr>
          <p:nvPr>
            <p:extLst>
              <p:ext uri="{D42A27DB-BD31-4B8C-83A1-F6EECF244321}">
                <p14:modId xmlns:p14="http://schemas.microsoft.com/office/powerpoint/2010/main" val="1579011935"/>
              </p:ext>
            </p:extLst>
          </p:nvPr>
        </p:nvGraphicFramePr>
        <p:xfrm>
          <a:off x="548640" y="1554480"/>
          <a:ext cx="8046720" cy="914400"/>
        </p:xfrm>
        <a:graphic>
          <a:graphicData uri="http://schemas.openxmlformats.org/drawingml/2006/table">
            <a:tbl>
              <a:tblPr/>
              <a:tblGrid>
                <a:gridCol w="2011680"/>
                <a:gridCol w="6035040"/>
              </a:tblGrid>
              <a:tr h="457200">
                <a:tc>
                  <a:txBody>
                    <a:bodyPr/>
                    <a:lstStyle/>
                    <a:p>
                      <a:pPr algn="l" indent="0" marL="0">
                        <a:buNone/>
                      </a:pPr>
                      <a:r>
                        <a:rPr lang="en-US" sz="1400" b="1" dirty="0">
                          <a:solidFill>
                            <a:schemeClr val="tx1"/>
                          </a:solidFill>
                        </a:rPr>
                        <a:t>Team</a:t>
                      </a:r>
                      <a:endParaRPr lang="en-US" sz="14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E6ECE5"/>
                    </a:solidFill>
                  </a:tcPr>
                </a:tc>
                <a:tc>
                  <a:txBody>
                    <a:bodyPr/>
                    <a:lstStyle/>
                    <a:p>
                      <a:pPr algn="l" indent="0" marL="0">
                        <a:buNone/>
                      </a:pPr>
                      <a:r>
                        <a:rPr lang="en-US" sz="1400" b="1" dirty="0">
                          <a:solidFill>
                            <a:schemeClr val="tx1"/>
                          </a:solidFill>
                        </a:rPr>
                        <a:t>Key result it owns</a:t>
                      </a:r>
                      <a:endParaRPr lang="en-US" sz="14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E6ECE5"/>
                    </a:solidFill>
                  </a:tcPr>
                </a:tc>
              </a:tr>
              <a:tr h="457200">
                <a:tc>
                  <a:txBody>
                    <a:bodyPr/>
                    <a:lstStyle/>
                    <a:p>
                      <a:pPr indent="0" marL="0">
                        <a:buNone/>
                      </a:pPr>
                      <a:r>
                        <a:rPr lang="en-US" sz="1400" dirty="0">
                          <a:solidFill>
                            <a:schemeClr val="tx1"/>
                          </a:solidFill>
                        </a:rPr>
                        <a:t>Digital Services</a:t>
                      </a:r>
                      <a:endParaRPr lang="en-US" sz="14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Digital twin and AR offers live with [n] key accounts in Year 1; connected assets under contract doubled from [baseline]</a:t>
                      </a:r>
                      <a:endParaRPr lang="en-US" sz="14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chemeClr val="tx1"/>
                          </a:solidFill>
                        </a:rPr>
                        <a:t>Data Center &amp; AI</a:t>
                      </a:r>
                      <a:endParaRPr lang="en-US" sz="14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Partnership and greenfield pipeline of [target]M by Year 1 to deliver KR2's 5M</a:t>
                      </a:r>
                      <a:endParaRPr lang="en-US" sz="14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chemeClr val="tx1"/>
                          </a:solidFill>
                        </a:rPr>
                        <a:t>Field Services</a:t>
                      </a:r>
                      <a:endParaRPr lang="en-US" sz="14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Incidents resolved remotely up [20] points; first-time fix rate at least [target %]</a:t>
                      </a:r>
                      <a:endParaRPr lang="en-US" sz="14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chemeClr val="tx1"/>
                          </a:solidFill>
                        </a:rPr>
                        <a:t>EcoFit</a:t>
                      </a:r>
                      <a:endParaRPr lang="en-US" sz="14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At least 40% of EcoFit pipeline sourced from asset-health data</a:t>
                      </a:r>
                      <a:endParaRPr lang="en-US" sz="14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r>
              <a:tr h="457200">
                <a:tc>
                  <a:txBody>
                    <a:bodyPr/>
                    <a:lstStyle/>
                    <a:p>
                      <a:pPr indent="0" marL="0">
                        <a:buNone/>
                      </a:pPr>
                      <a:r>
                        <a:rPr lang="en-US" sz="1400" dirty="0">
                          <a:solidFill>
                            <a:schemeClr val="tx1"/>
                          </a:solidFill>
                        </a:rPr>
                        <a:t>Sales</a:t>
                      </a:r>
                      <a:endParaRPr lang="en-US" sz="14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c>
                  <a:txBody>
                    <a:bodyPr/>
                    <a:lstStyle/>
                    <a:p>
                      <a:pPr indent="0" marL="0">
                        <a:buNone/>
                      </a:pPr>
                      <a:r>
                        <a:rPr lang="en-US" sz="1400" dirty="0">
                          <a:solidFill>
                            <a:schemeClr val="tx1"/>
                          </a:solidFill>
                        </a:rPr>
                        <a:t>Digital Services attached to [target %] of new EcoCare and EcoFit contracts</a:t>
                      </a:r>
                      <a:endParaRPr lang="en-US" sz="1400" dirty="0"/>
                    </a:p>
                  </a:txBody>
                  <a:tcPr marL="91440" marR="91440" marT="45720" marB="45720" anchor="ctr">
                    <a:lnL w="6350" cap="flat" cmpd="sng" algn="ctr">
                      <a:solidFill>
                        <a:srgbClr val="D9E0DA"/>
                      </a:solidFill>
                      <a:prstDash val="solid"/>
                      <a:round/>
                      <a:headEnd type="none" w="med" len="med"/>
                      <a:tailEnd type="none" w="med" len="med"/>
                    </a:lnL>
                    <a:lnR w="6350" cap="flat" cmpd="sng" algn="ctr">
                      <a:solidFill>
                        <a:srgbClr val="D9E0DA"/>
                      </a:solidFill>
                      <a:prstDash val="solid"/>
                      <a:round/>
                      <a:headEnd type="none" w="med" len="med"/>
                      <a:tailEnd type="none" w="med" len="med"/>
                    </a:lnR>
                    <a:lnT w="6350" cap="flat" cmpd="sng" algn="ctr">
                      <a:solidFill>
                        <a:srgbClr val="D9E0DA"/>
                      </a:solidFill>
                      <a:prstDash val="solid"/>
                      <a:round/>
                      <a:headEnd type="none" w="med" len="med"/>
                      <a:tailEnd type="none" w="med" len="med"/>
                    </a:lnT>
                    <a:lnB w="6350" cap="flat" cmpd="sng" algn="ctr">
                      <a:solidFill>
                        <a:srgbClr val="D9E0D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56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WHAT WE'RE STILL TESTING</a:t>
            </a:r>
            <a:endParaRPr lang="en-US" sz="1100" dirty="0"/>
          </a:p>
        </p:txBody>
      </p:sp>
      <p:sp>
        <p:nvSpPr>
          <p:cNvPr id="3" name="Title"/>
          <p:cNvSpPr txBox="1"/>
          <p:nvPr/>
        </p:nvSpPr>
        <p:spPr>
          <a:xfrm>
            <a:off x="548640" y="685800"/>
            <a:ext cx="8046720" cy="685800"/>
          </a:xfrm>
          <a:prstGeom prst="rect">
            <a:avLst/>
          </a:prstGeom>
          <a:noFill/>
          <a:ln/>
        </p:spPr>
        <p:txBody>
          <a:bodyPr wrap="square" lIns="0" tIns="0" rIns="0" bIns="0" rtlCol="0" anchor="t"/>
          <a:lstStyle/>
          <a:p>
            <a:pPr indent="0" marL="0">
              <a:buNone/>
            </a:pPr>
            <a:r>
              <a:rPr lang="en-US" sz="2800" b="1" dirty="0">
                <a:solidFill>
                  <a:schemeClr val="tx1"/>
                </a:solidFill>
                <a:latin typeface="Calibri" pitchFamily="34" charset="0"/>
                <a:ea typeface="Calibri" pitchFamily="34" charset="-122"/>
                <a:cs typeface="Calibri" pitchFamily="34" charset="-120"/>
              </a:rPr>
              <a:t>Four open questions from our pressure test</a:t>
            </a:r>
            <a:endParaRPr lang="en-US" sz="2800" dirty="0"/>
          </a:p>
        </p:txBody>
      </p:sp>
      <p:sp>
        <p:nvSpPr>
          <p:cNvPr id="4" name="Card"/>
          <p:cNvSpPr/>
          <p:nvPr/>
        </p:nvSpPr>
        <p:spPr>
          <a:xfrm>
            <a:off x="548640" y="1554480"/>
            <a:ext cx="3931920" cy="1371600"/>
          </a:xfrm>
          <a:prstGeom prst="roundRect">
            <a:avLst>
              <a:gd name="adj" fmla="val 5333"/>
            </a:avLst>
          </a:prstGeom>
          <a:solidFill>
            <a:schemeClr val="bg1"/>
          </a:solidFill>
          <a:ln w="9525">
            <a:solidFill>
              <a:schemeClr val="accent6"/>
            </a:solidFill>
            <a:prstDash val="solid"/>
          </a:ln>
        </p:spPr>
      </p:sp>
      <p:sp>
        <p:nvSpPr>
          <p:cNvPr id="5" name="Text 3"/>
          <p:cNvSpPr txBox="1"/>
          <p:nvPr/>
        </p:nvSpPr>
        <p:spPr>
          <a:xfrm>
            <a:off x="822960" y="1691640"/>
            <a:ext cx="3383280" cy="365760"/>
          </a:xfrm>
          <a:prstGeom prst="rect">
            <a:avLst/>
          </a:prstGeom>
          <a:noFill/>
          <a:ln/>
        </p:spPr>
        <p:txBody>
          <a:bodyPr wrap="square" lIns="0" tIns="0" rIns="0" bIns="0" rtlCol="0" anchor="ctr"/>
          <a:lstStyle/>
          <a:p>
            <a:pPr indent="0" marL="0">
              <a:buNone/>
            </a:pPr>
            <a:r>
              <a:rPr lang="en-US" sz="1600" b="1" dirty="0">
                <a:solidFill>
                  <a:schemeClr val="tx1"/>
                </a:solidFill>
              </a:rPr>
              <a:t>Is 13.68M really top three?</a:t>
            </a:r>
            <a:endParaRPr lang="en-US" sz="1600" dirty="0"/>
          </a:p>
        </p:txBody>
      </p:sp>
      <p:sp>
        <p:nvSpPr>
          <p:cNvPr id="6" name="Text 4"/>
          <p:cNvSpPr txBox="1"/>
          <p:nvPr/>
        </p:nvSpPr>
        <p:spPr>
          <a:xfrm>
            <a:off x="822960" y="2103120"/>
            <a:ext cx="3383280" cy="731520"/>
          </a:xfrm>
          <a:prstGeom prst="rect">
            <a:avLst/>
          </a:prstGeom>
          <a:noFill/>
          <a:ln/>
        </p:spPr>
        <p:txBody>
          <a:bodyPr wrap="square" lIns="0" tIns="0" rIns="0" bIns="0" rtlCol="0" anchor="t"/>
          <a:lstStyle/>
          <a:p>
            <a:pPr indent="0" marL="0">
              <a:buNone/>
            </a:pPr>
            <a:r>
              <a:rPr lang="en-US" sz="1300" dirty="0">
                <a:solidFill>
                  <a:schemeClr val="tx2"/>
                </a:solidFill>
              </a:rPr>
              <a:t>EcoCare, EcoFit and Field Services are likely far larger. We'll set the target from the gap to the #3 pillar.</a:t>
            </a:r>
            <a:endParaRPr lang="en-US" sz="1300" dirty="0"/>
          </a:p>
        </p:txBody>
      </p:sp>
      <p:sp>
        <p:nvSpPr>
          <p:cNvPr id="7" name="Card"/>
          <p:cNvSpPr/>
          <p:nvPr/>
        </p:nvSpPr>
        <p:spPr>
          <a:xfrm>
            <a:off x="4663440" y="1554480"/>
            <a:ext cx="3931920" cy="1371600"/>
          </a:xfrm>
          <a:prstGeom prst="roundRect">
            <a:avLst>
              <a:gd name="adj" fmla="val 5333"/>
            </a:avLst>
          </a:prstGeom>
          <a:solidFill>
            <a:schemeClr val="bg1"/>
          </a:solidFill>
          <a:ln w="9525">
            <a:solidFill>
              <a:schemeClr val="accent6"/>
            </a:solidFill>
            <a:prstDash val="solid"/>
          </a:ln>
        </p:spPr>
      </p:sp>
      <p:sp>
        <p:nvSpPr>
          <p:cNvPr id="8" name="Text 6"/>
          <p:cNvSpPr txBox="1"/>
          <p:nvPr/>
        </p:nvSpPr>
        <p:spPr>
          <a:xfrm>
            <a:off x="4937760" y="1691640"/>
            <a:ext cx="3383280" cy="365760"/>
          </a:xfrm>
          <a:prstGeom prst="rect">
            <a:avLst/>
          </a:prstGeom>
          <a:noFill/>
          <a:ln/>
        </p:spPr>
        <p:txBody>
          <a:bodyPr wrap="square" lIns="0" tIns="0" rIns="0" bIns="0" rtlCol="0" anchor="ctr"/>
          <a:lstStyle/>
          <a:p>
            <a:pPr indent="0" marL="0">
              <a:buNone/>
            </a:pPr>
            <a:r>
              <a:rPr lang="en-US" sz="1600" b="1" dirty="0">
                <a:solidFill>
                  <a:schemeClr val="tx1"/>
                </a:solidFill>
              </a:rPr>
              <a:t>What does it cost?</a:t>
            </a:r>
            <a:endParaRPr lang="en-US" sz="1600" dirty="0"/>
          </a:p>
        </p:txBody>
      </p:sp>
      <p:sp>
        <p:nvSpPr>
          <p:cNvPr id="9" name="Text 7"/>
          <p:cNvSpPr txBox="1"/>
          <p:nvPr/>
        </p:nvSpPr>
        <p:spPr>
          <a:xfrm>
            <a:off x="4937760" y="2103120"/>
            <a:ext cx="3383280" cy="731520"/>
          </a:xfrm>
          <a:prstGeom prst="rect">
            <a:avLst/>
          </a:prstGeom>
          <a:noFill/>
          <a:ln/>
        </p:spPr>
        <p:txBody>
          <a:bodyPr wrap="square" lIns="0" tIns="0" rIns="0" bIns="0" rtlCol="0" anchor="t"/>
          <a:lstStyle/>
          <a:p>
            <a:pPr indent="0" marL="0">
              <a:buNone/>
            </a:pPr>
            <a:r>
              <a:rPr lang="en-US" sz="1300" dirty="0">
                <a:solidFill>
                  <a:schemeClr val="tx2"/>
                </a:solidFill>
              </a:rPr>
              <a:t>Investment, headcount and payback are not sized yet. They come with the financial model.</a:t>
            </a:r>
            <a:endParaRPr lang="en-US" sz="1300" dirty="0"/>
          </a:p>
        </p:txBody>
      </p:sp>
      <p:sp>
        <p:nvSpPr>
          <p:cNvPr id="10" name="Card"/>
          <p:cNvSpPr/>
          <p:nvPr/>
        </p:nvSpPr>
        <p:spPr>
          <a:xfrm>
            <a:off x="548640" y="3063240"/>
            <a:ext cx="3931920" cy="1371600"/>
          </a:xfrm>
          <a:prstGeom prst="roundRect">
            <a:avLst>
              <a:gd name="adj" fmla="val 5333"/>
            </a:avLst>
          </a:prstGeom>
          <a:solidFill>
            <a:schemeClr val="bg1"/>
          </a:solidFill>
          <a:ln w="9525">
            <a:solidFill>
              <a:schemeClr val="accent6"/>
            </a:solidFill>
            <a:prstDash val="solid"/>
          </a:ln>
        </p:spPr>
      </p:sp>
      <p:sp>
        <p:nvSpPr>
          <p:cNvPr id="11" name="Text 9"/>
          <p:cNvSpPr txBox="1"/>
          <p:nvPr/>
        </p:nvSpPr>
        <p:spPr>
          <a:xfrm>
            <a:off x="822960" y="3200400"/>
            <a:ext cx="3383280" cy="365760"/>
          </a:xfrm>
          <a:prstGeom prst="rect">
            <a:avLst/>
          </a:prstGeom>
          <a:noFill/>
          <a:ln/>
        </p:spPr>
        <p:txBody>
          <a:bodyPr wrap="square" lIns="0" tIns="0" rIns="0" bIns="0" rtlCol="0" anchor="ctr"/>
          <a:lstStyle/>
          <a:p>
            <a:pPr indent="0" marL="0">
              <a:buNone/>
            </a:pPr>
            <a:r>
              <a:rPr lang="en-US" sz="1600" b="1" dirty="0">
                <a:solidFill>
                  <a:schemeClr val="tx1"/>
                </a:solidFill>
              </a:rPr>
              <a:t>How do we count leveraged growth?</a:t>
            </a:r>
            <a:endParaRPr lang="en-US" sz="1600" dirty="0"/>
          </a:p>
        </p:txBody>
      </p:sp>
      <p:sp>
        <p:nvSpPr>
          <p:cNvPr id="12" name="Text 10"/>
          <p:cNvSpPr txBox="1"/>
          <p:nvPr/>
        </p:nvSpPr>
        <p:spPr>
          <a:xfrm>
            <a:off x="822960" y="3611880"/>
            <a:ext cx="3383280" cy="731520"/>
          </a:xfrm>
          <a:prstGeom prst="rect">
            <a:avLst/>
          </a:prstGeom>
          <a:noFill/>
          <a:ln/>
        </p:spPr>
        <p:txBody>
          <a:bodyPr wrap="square" lIns="0" tIns="0" rIns="0" bIns="0" rtlCol="0" anchor="t"/>
          <a:lstStyle/>
          <a:p>
            <a:pPr indent="0" marL="0">
              <a:buNone/>
            </a:pPr>
            <a:r>
              <a:rPr lang="en-US" sz="1300" dirty="0">
                <a:solidFill>
                  <a:schemeClr val="tx2"/>
                </a:solidFill>
              </a:rPr>
              <a:t>KR3 needs a clear rule for what revenue counts as driven by Digital Services.</a:t>
            </a:r>
            <a:endParaRPr lang="en-US" sz="1300" dirty="0"/>
          </a:p>
        </p:txBody>
      </p:sp>
      <p:sp>
        <p:nvSpPr>
          <p:cNvPr id="13" name="Card"/>
          <p:cNvSpPr/>
          <p:nvPr/>
        </p:nvSpPr>
        <p:spPr>
          <a:xfrm>
            <a:off x="4663440" y="3063240"/>
            <a:ext cx="3931920" cy="1371600"/>
          </a:xfrm>
          <a:prstGeom prst="roundRect">
            <a:avLst>
              <a:gd name="adj" fmla="val 5333"/>
            </a:avLst>
          </a:prstGeom>
          <a:solidFill>
            <a:schemeClr val="bg1"/>
          </a:solidFill>
          <a:ln w="9525">
            <a:solidFill>
              <a:schemeClr val="accent6"/>
            </a:solidFill>
            <a:prstDash val="solid"/>
          </a:ln>
        </p:spPr>
      </p:sp>
      <p:sp>
        <p:nvSpPr>
          <p:cNvPr id="14" name="Text 12"/>
          <p:cNvSpPr txBox="1"/>
          <p:nvPr/>
        </p:nvSpPr>
        <p:spPr>
          <a:xfrm>
            <a:off x="4937760" y="3200400"/>
            <a:ext cx="3383280" cy="365760"/>
          </a:xfrm>
          <a:prstGeom prst="rect">
            <a:avLst/>
          </a:prstGeom>
          <a:noFill/>
          <a:ln/>
        </p:spPr>
        <p:txBody>
          <a:bodyPr wrap="square" lIns="0" tIns="0" rIns="0" bIns="0" rtlCol="0" anchor="ctr"/>
          <a:lstStyle/>
          <a:p>
            <a:pPr indent="0" marL="0">
              <a:buNone/>
            </a:pPr>
            <a:r>
              <a:rPr lang="en-US" sz="1600" b="1" dirty="0">
                <a:solidFill>
                  <a:schemeClr val="tx1"/>
                </a:solidFill>
              </a:rPr>
              <a:t>Do we lose data with lost sites?</a:t>
            </a:r>
            <a:endParaRPr lang="en-US" sz="1600" dirty="0"/>
          </a:p>
        </p:txBody>
      </p:sp>
      <p:sp>
        <p:nvSpPr>
          <p:cNvPr id="15" name="Text 13"/>
          <p:cNvSpPr txBox="1"/>
          <p:nvPr/>
        </p:nvSpPr>
        <p:spPr>
          <a:xfrm>
            <a:off x="4937760" y="3611880"/>
            <a:ext cx="3383280" cy="731520"/>
          </a:xfrm>
          <a:prstGeom prst="rect">
            <a:avLst/>
          </a:prstGeom>
          <a:noFill/>
          <a:ln/>
        </p:spPr>
        <p:txBody>
          <a:bodyPr wrap="square" lIns="0" tIns="0" rIns="0" bIns="0" rtlCol="0" anchor="t"/>
          <a:lstStyle/>
          <a:p>
            <a:pPr indent="0" marL="0">
              <a:buNone/>
            </a:pPr>
            <a:r>
              <a:rPr lang="en-US" sz="1300" dirty="0">
                <a:solidFill>
                  <a:schemeClr val="tx2"/>
                </a:solidFill>
              </a:rPr>
              <a:t>A low-cost, remote-first tier could keep price-sensitive sites connected.</a:t>
            </a:r>
            <a:endParaRPr lang="en-US" sz="13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56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
          <p:cNvSpPr txBox="1"/>
          <p:nvPr/>
        </p:nvSpPr>
        <p:spPr>
          <a:xfrm>
            <a:off x="548640" y="411480"/>
            <a:ext cx="804672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DECISIONS NEEDED</a:t>
            </a:r>
            <a:endParaRPr lang="en-US" sz="1100" dirty="0"/>
          </a:p>
        </p:txBody>
      </p:sp>
      <p:sp>
        <p:nvSpPr>
          <p:cNvPr id="3" name="Title"/>
          <p:cNvSpPr txBox="1"/>
          <p:nvPr/>
        </p:nvSpPr>
        <p:spPr>
          <a:xfrm>
            <a:off x="548640" y="685800"/>
            <a:ext cx="8046720" cy="685800"/>
          </a:xfrm>
          <a:prstGeom prst="rect">
            <a:avLst/>
          </a:prstGeom>
          <a:noFill/>
          <a:ln/>
        </p:spPr>
        <p:txBody>
          <a:bodyPr wrap="square" lIns="0" tIns="0" rIns="0" bIns="0" rtlCol="0" anchor="t"/>
          <a:lstStyle/>
          <a:p>
            <a:pPr indent="0" marL="0">
              <a:buNone/>
            </a:pPr>
            <a:r>
              <a:rPr lang="en-US" sz="2800" b="1" dirty="0">
                <a:solidFill>
                  <a:schemeClr val="bg1"/>
                </a:solidFill>
                <a:latin typeface="Calibri" pitchFamily="34" charset="0"/>
                <a:ea typeface="Calibri" pitchFamily="34" charset="-122"/>
                <a:cs typeface="Calibri" pitchFamily="34" charset="-120"/>
              </a:rPr>
              <a:t>What I need from this leadership team</a:t>
            </a:r>
            <a:endParaRPr lang="en-US" sz="2800" dirty="0"/>
          </a:p>
        </p:txBody>
      </p:sp>
      <p:sp>
        <p:nvSpPr>
          <p:cNvPr id="4" name="Text 2"/>
          <p:cNvSpPr txBox="1"/>
          <p:nvPr/>
        </p:nvSpPr>
        <p:spPr>
          <a:xfrm>
            <a:off x="548640" y="1645920"/>
            <a:ext cx="7863840" cy="274320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800" dirty="0">
                <a:solidFill>
                  <a:srgbClr val="E3ECE5"/>
                </a:solidFill>
              </a:rPr>
              <a:t>Back Strategy B, Scale Digital Services, as the priority growth initiative</a:t>
            </a:r>
            <a:endParaRPr lang="en-US" sz="1800" dirty="0"/>
          </a:p>
          <a:p>
            <a:pPr marL="342900" indent="-342900">
              <a:spcAft>
                <a:spcPts val="1000"/>
              </a:spcAft>
              <a:buSzPct val="100000"/>
              <a:buFont typeface="+mj-lt"/>
              <a:buAutoNum type="arabicPeriod" startAt="1"/>
            </a:pPr>
            <a:r>
              <a:rPr lang="en-US" sz="1800" dirty="0">
                <a:solidFill>
                  <a:srgbClr val="E3ECE5"/>
                </a:solidFill>
              </a:rPr>
              <a:t>Agree an investment and headcount envelope of [__], to be sized in the financial model</a:t>
            </a:r>
            <a:endParaRPr lang="en-US" sz="1800" dirty="0"/>
          </a:p>
          <a:p>
            <a:pPr marL="342900" indent="-342900">
              <a:spcAft>
                <a:spcPts val="1000"/>
              </a:spcAft>
              <a:buSzPct val="100000"/>
              <a:buFont typeface="+mj-lt"/>
              <a:buAutoNum type="arabicPeriod" startAt="1"/>
            </a:pPr>
            <a:r>
              <a:rPr lang="en-US" sz="1800" dirty="0">
                <a:solidFill>
                  <a:srgbClr val="E3ECE5"/>
                </a:solidFill>
              </a:rPr>
              <a:t>Name regional owners for KR1 and KR2, with a regional split of the targets</a:t>
            </a:r>
            <a:endParaRPr lang="en-US" sz="1800" dirty="0"/>
          </a:p>
          <a:p>
            <a:pPr marL="342900" indent="-342900">
              <a:spcAft>
                <a:spcPts val="1000"/>
              </a:spcAft>
              <a:buSzPct val="100000"/>
              <a:buFont typeface="+mj-lt"/>
              <a:buAutoNum type="arabicPeriod" startAt="1"/>
            </a:pPr>
            <a:r>
              <a:rPr lang="en-US" sz="1800" dirty="0">
                <a:solidFill>
                  <a:srgbClr val="E3ECE5"/>
                </a:solidFill>
              </a:rPr>
              <a:t>Confirm baselines: Digital Services 10M and today's satisfaction score [__]</a:t>
            </a:r>
            <a:endParaRPr lang="en-US" sz="18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D3A6"/>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Services Green">
  <a:themeElements>
    <a:clrScheme name="Services Green">
      <a:dk1>
        <a:srgbClr val="14231B"/>
      </a:dk1>
      <a:lt1>
        <a:srgbClr val="FFFFFF"/>
      </a:lt1>
      <a:dk2>
        <a:srgbClr val="46514A"/>
      </a:dk2>
      <a:lt2>
        <a:srgbClr val="F3F6F2"/>
      </a:lt2>
      <a:accent1>
        <a:srgbClr val="1F7A45"/>
      </a:accent1>
      <a:accent2>
        <a:srgbClr val="8FD3A6"/>
      </a:accent2>
      <a:accent3>
        <a:srgbClr val="5BA97A"/>
      </a:accent3>
      <a:accent4>
        <a:srgbClr val="B9D9C3"/>
      </a:accent4>
      <a:accent5>
        <a:srgbClr val="6B756E"/>
      </a:accent5>
      <a:accent6>
        <a:srgbClr val="D9E0DA"/>
      </a:accent6>
      <a:hlink>
        <a:srgbClr val="1F7A45"/>
      </a:hlink>
      <a:folHlink>
        <a:srgbClr val="46514A"/>
      </a:folHlink>
    </a:clrScheme>
    <a:fontScheme name="Services Gree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Growing Schneider Electric Services</dc:title>
  <dc:subject>PptxGenJS Presentation</dc:subject>
  <dc:creator>Chen</dc:creator>
  <cp:lastModifiedBy>Chen</cp:lastModifiedBy>
  <cp:revision>1</cp:revision>
  <dcterms:created xsi:type="dcterms:W3CDTF">2026-10-13T12:01:23Z</dcterms:created>
  <dcterms:modified xsi:type="dcterms:W3CDTF">2026-10-13T12:01:23Z</dcterms:modified>
</cp:coreProperties>
</file>